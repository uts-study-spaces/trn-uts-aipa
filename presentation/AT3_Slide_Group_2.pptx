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2" r:id="rId7"/>
    <p:sldId id="261" r:id="rId8"/>
    <p:sldId id="263" r:id="rId9"/>
    <p:sldId id="267" r:id="rId10"/>
    <p:sldId id="264" r:id="rId11"/>
    <p:sldId id="268"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5013" autoAdjust="0"/>
  </p:normalViewPr>
  <p:slideViewPr>
    <p:cSldViewPr snapToGrid="0" snapToObjects="1">
      <p:cViewPr varScale="1">
        <p:scale>
          <a:sx n="71" d="100"/>
          <a:sy n="71" d="100"/>
        </p:scale>
        <p:origin x="178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Macro F1</c:v>
                </c:pt>
              </c:strCache>
            </c:strRef>
          </c:tx>
          <c:spPr>
            <a:solidFill>
              <a:srgbClr val="3A7BD5"/>
            </a:solidFill>
            <a:effectLst/>
          </c:spPr>
          <c:invertIfNegative val="0"/>
          <c:dPt>
            <c:idx val="0"/>
            <c:invertIfNegative val="0"/>
            <c:bubble3D val="0"/>
            <c:extLst>
              <c:ext xmlns:c16="http://schemas.microsoft.com/office/drawing/2014/chart" uri="{C3380CC4-5D6E-409C-BE32-E72D297353CC}">
                <c16:uniqueId val="{00000001-9B16-4FA9-B808-62837BCFE9F8}"/>
              </c:ext>
            </c:extLst>
          </c:dPt>
          <c:dPt>
            <c:idx val="1"/>
            <c:invertIfNegative val="0"/>
            <c:bubble3D val="0"/>
            <c:extLst>
              <c:ext xmlns:c16="http://schemas.microsoft.com/office/drawing/2014/chart" uri="{C3380CC4-5D6E-409C-BE32-E72D297353CC}">
                <c16:uniqueId val="{00000003-9B16-4FA9-B808-62837BCFE9F8}"/>
              </c:ext>
            </c:extLst>
          </c:dPt>
          <c:dPt>
            <c:idx val="2"/>
            <c:invertIfNegative val="0"/>
            <c:bubble3D val="0"/>
            <c:spPr>
              <a:solidFill>
                <a:srgbClr val="00C9B8"/>
              </a:solidFill>
              <a:effectLst/>
            </c:spPr>
            <c:extLst>
              <c:ext xmlns:c16="http://schemas.microsoft.com/office/drawing/2014/chart" uri="{C3380CC4-5D6E-409C-BE32-E72D297353CC}">
                <c16:uniqueId val="{00000005-9B16-4FA9-B808-62837BCFE9F8}"/>
              </c:ext>
            </c:extLst>
          </c:dPt>
          <c:dLbls>
            <c:numFmt formatCode="0.00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Naive Bayes</c:v>
                </c:pt>
                <c:pt idx="2">
                  <c:v>Linear SVM</c:v>
                </c:pt>
              </c:strCache>
            </c:strRef>
          </c:cat>
          <c:val>
            <c:numRef>
              <c:f>Sheet1!$B$2:$B$4</c:f>
              <c:numCache>
                <c:formatCode>General</c:formatCode>
                <c:ptCount val="3"/>
                <c:pt idx="0">
                  <c:v>498</c:v>
                </c:pt>
                <c:pt idx="1">
                  <c:v>471</c:v>
                </c:pt>
                <c:pt idx="2">
                  <c:v>525</c:v>
                </c:pt>
              </c:numCache>
            </c:numRef>
          </c:val>
          <c:extLst>
            <c:ext xmlns:c16="http://schemas.microsoft.com/office/drawing/2014/chart" uri="{C3380CC4-5D6E-409C-BE32-E72D297353CC}">
              <c16:uniqueId val="{00000006-9B16-4FA9-B808-62837BCFE9F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2"/>
        <c:crosses val="autoZero"/>
        <c:auto val="1"/>
        <c:lblAlgn val="ctr"/>
        <c:lblOffset val="100"/>
        <c:noMultiLvlLbl val="1"/>
      </c:catAx>
      <c:valAx>
        <c:axId val="2094734552"/>
        <c:scaling>
          <c:orientation val="minMax"/>
          <c:max val="700"/>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2F4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Macro F1</c:v>
                </c:pt>
              </c:strCache>
            </c:strRef>
          </c:tx>
          <c:spPr>
            <a:solidFill>
              <a:srgbClr val="3A7BD5"/>
            </a:solidFill>
            <a:effectLst/>
          </c:spPr>
          <c:invertIfNegative val="0"/>
          <c:dPt>
            <c:idx val="0"/>
            <c:invertIfNegative val="0"/>
            <c:bubble3D val="0"/>
            <c:extLst>
              <c:ext xmlns:c16="http://schemas.microsoft.com/office/drawing/2014/chart" uri="{C3380CC4-5D6E-409C-BE32-E72D297353CC}">
                <c16:uniqueId val="{00000001-3753-416B-AD3B-3FD6D3B2908E}"/>
              </c:ext>
            </c:extLst>
          </c:dPt>
          <c:dPt>
            <c:idx val="1"/>
            <c:invertIfNegative val="0"/>
            <c:bubble3D val="0"/>
            <c:extLst>
              <c:ext xmlns:c16="http://schemas.microsoft.com/office/drawing/2014/chart" uri="{C3380CC4-5D6E-409C-BE32-E72D297353CC}">
                <c16:uniqueId val="{00000003-3753-416B-AD3B-3FD6D3B2908E}"/>
              </c:ext>
            </c:extLst>
          </c:dPt>
          <c:dPt>
            <c:idx val="2"/>
            <c:invertIfNegative val="0"/>
            <c:bubble3D val="0"/>
            <c:spPr>
              <a:solidFill>
                <a:srgbClr val="14B8A6"/>
              </a:solidFill>
              <a:effectLst/>
            </c:spPr>
            <c:extLst>
              <c:ext xmlns:c16="http://schemas.microsoft.com/office/drawing/2014/chart" uri="{C3380CC4-5D6E-409C-BE32-E72D297353CC}">
                <c16:uniqueId val="{00000005-3753-416B-AD3B-3FD6D3B2908E}"/>
              </c:ext>
            </c:extLst>
          </c:dPt>
          <c:dLbls>
            <c:numFmt formatCode="0.000" sourceLinked="0"/>
            <c:spPr>
              <a:noFill/>
              <a:ln>
                <a:noFill/>
              </a:ln>
              <a:effectLst/>
            </c:spPr>
            <c:txPr>
              <a:bodyPr/>
              <a:lstStyle/>
              <a:p>
                <a:pPr>
                  <a:defRPr sz="1100" b="1"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Logistic Regression</c:v>
                </c:pt>
                <c:pt idx="1">
                  <c:v>Naive Bayes</c:v>
                </c:pt>
                <c:pt idx="2">
                  <c:v>Linear SVM</c:v>
                </c:pt>
              </c:strCache>
            </c:strRef>
          </c:cat>
          <c:val>
            <c:numRef>
              <c:f>Sheet1!$B$2:$B$4</c:f>
              <c:numCache>
                <c:formatCode>General</c:formatCode>
                <c:ptCount val="3"/>
                <c:pt idx="0">
                  <c:v>523</c:v>
                </c:pt>
                <c:pt idx="1">
                  <c:v>489</c:v>
                </c:pt>
                <c:pt idx="2">
                  <c:v>568</c:v>
                </c:pt>
              </c:numCache>
            </c:numRef>
          </c:val>
          <c:extLst>
            <c:ext xmlns:c16="http://schemas.microsoft.com/office/drawing/2014/chart" uri="{C3380CC4-5D6E-409C-BE32-E72D297353CC}">
              <c16:uniqueId val="{00000006-3753-416B-AD3B-3FD6D3B2908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2"/>
        <c:crosses val="autoZero"/>
        <c:auto val="1"/>
        <c:lblAlgn val="ctr"/>
        <c:lblOffset val="100"/>
        <c:noMultiLvlLbl val="1"/>
      </c:catAx>
      <c:valAx>
        <c:axId val="2094734552"/>
        <c:scaling>
          <c:orientation val="minMax"/>
          <c:max val="700"/>
          <c:min val="0"/>
        </c:scaling>
        <c:delete val="0"/>
        <c:axPos val="l"/>
        <c:majorGridlines>
          <c:spPr>
            <a:ln w="635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8C4D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2F4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1948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1: Student …</a:t>
            </a:r>
            <a:br>
              <a:rPr lang="en-US" dirty="0"/>
            </a:br>
            <a:br>
              <a:rPr lang="en-US" dirty="0"/>
            </a:br>
            <a:r>
              <a:rPr lang="en-US" dirty="0"/>
              <a:t>Good morning/afternoon. Our project is Ticket Routing Intelligence, an explainable AI decision-support system for customer support ticket triage. It applies supervised NLP, rule-based reasoning, template-based summarisation, and explainability to assist support teams with faster and more consistent first-pass ticket handling. (~20 seconds)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pitchFamily="34" charset="0"/>
                <a:ea typeface="Trebuchet MS" pitchFamily="34" charset="-122"/>
                <a:cs typeface="Trebuchet MS" pitchFamily="34" charset="-120"/>
              </a:rPr>
              <a:t>SPEAKER 1: Student …</a:t>
            </a:r>
            <a:br>
              <a:rPr lang="en-US" sz="1200" b="1" dirty="0">
                <a:solidFill>
                  <a:srgbClr val="FFFFFF"/>
                </a:solidFill>
                <a:latin typeface="Trebuchet MS" pitchFamily="34" charset="0"/>
                <a:ea typeface="Trebuchet MS" pitchFamily="34" charset="-122"/>
                <a:cs typeface="Trebuchet MS" pitchFamily="34" charset="-120"/>
              </a:rPr>
            </a:br>
            <a:br>
              <a:rPr lang="en-US" sz="1200" b="1" dirty="0">
                <a:solidFill>
                  <a:srgbClr val="FFFFFF"/>
                </a:solidFill>
                <a:latin typeface="Trebuchet MS" pitchFamily="34" charset="0"/>
                <a:ea typeface="Trebuchet MS" pitchFamily="34" charset="-122"/>
                <a:cs typeface="Trebuchet MS" pitchFamily="34" charset="-120"/>
              </a:rPr>
            </a:br>
            <a:r>
              <a:rPr lang="en-US" dirty="0"/>
              <a:t>The real-world problem is delayed and inconsistent customer support triage. Incoming tickets often contain unstructured language, different urgency levels, and overlapping topics such as billing, access, outages, and product questions. If triage is handled manually, urgent or security-related issues may be delayed. Our project targets this operational problem by using AI to support faster and more consistent first-pass routing while keeping human agents in control. (~55 seconds)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pitchFamily="34" charset="0"/>
                <a:ea typeface="Trebuchet MS" pitchFamily="34" charset="-122"/>
                <a:cs typeface="Trebuchet MS" pitchFamily="34" charset="-120"/>
              </a:rPr>
              <a:t>SPEAKER 2: Student …</a:t>
            </a:r>
            <a:br>
              <a:rPr lang="en-US" sz="1200" b="1" dirty="0">
                <a:solidFill>
                  <a:srgbClr val="FFFFFF"/>
                </a:solidFill>
                <a:latin typeface="Trebuchet MS" pitchFamily="34" charset="0"/>
                <a:ea typeface="Trebuchet MS" pitchFamily="34" charset="-122"/>
                <a:cs typeface="Trebuchet MS" pitchFamily="34" charset="-120"/>
              </a:rPr>
            </a:br>
            <a:br>
              <a:rPr lang="en-US" sz="1200" b="1" dirty="0">
                <a:solidFill>
                  <a:srgbClr val="FFFFFF"/>
                </a:solidFill>
                <a:latin typeface="Trebuchet MS" pitchFamily="34" charset="0"/>
                <a:ea typeface="Trebuchet MS" pitchFamily="34" charset="-122"/>
                <a:cs typeface="Trebuchet MS" pitchFamily="34" charset="-120"/>
              </a:rPr>
            </a:br>
            <a:r>
              <a:rPr lang="en-US" dirty="0"/>
              <a:t>Our solution converts unstructured customer ticket text into structured triage outputs. The system predicts the likely queue, estimates the priority, recommends a team, flags escalation risk, creates a concise summary using a template-based approach with privacy masking, and displays explanation terms. It is designed as decision support rather than autonomous decision-making — the final action remains with the support agent. (~45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pitchFamily="34" charset="0"/>
                <a:ea typeface="Trebuchet MS" pitchFamily="34" charset="-122"/>
                <a:cs typeface="Trebuchet MS" pitchFamily="34" charset="-120"/>
              </a:rPr>
              <a:t>SPEAKER 2: Student …</a:t>
            </a:r>
          </a:p>
          <a:p>
            <a:endParaRPr lang="en-US" sz="1200" b="1" dirty="0">
              <a:solidFill>
                <a:srgbClr val="FFFFFF"/>
              </a:solidFill>
              <a:latin typeface="Trebuchet MS" pitchFamily="34" charset="0"/>
            </a:endParaRPr>
          </a:p>
          <a:p>
            <a:r>
              <a:rPr lang="en-US" dirty="0"/>
              <a:t>A key strength of the project is that the dataset was not used blindly. We audited all five CSV files from Kaggle and merged only the three compatible multilingual files. This produced 44,275 usable records after cleaning and deduplication. We excluded the answer field because it is written after the support agent responds. Including it would create target leakage and would not represent the real-world situation where a new ticket arrives before any answer exists. (~60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latin typeface="Trebuchet MS" pitchFamily="34" charset="0"/>
                <a:ea typeface="Trebuchet MS" pitchFamily="34" charset="-122"/>
                <a:cs typeface="Trebuchet MS" pitchFamily="34" charset="-120"/>
              </a:rPr>
              <a:t>SPEAKER 3: Student …</a:t>
            </a:r>
          </a:p>
          <a:p>
            <a:endParaRPr lang="en-US" sz="1200" b="1" dirty="0">
              <a:solidFill>
                <a:srgbClr val="FFFFFF"/>
              </a:solidFill>
              <a:latin typeface="Trebuchet MS" pitchFamily="34" charset="0"/>
            </a:endParaRPr>
          </a:p>
          <a:p>
            <a:r>
              <a:rPr lang="en-US" dirty="0"/>
              <a:t>The main AI method is supervised NLP classification. We use TF-IDF because it is effective for turning text into weighted features and is suitable for short support tickets. We compared Logistic Regression, Linear SVM, and Naive Bayes. Linear SVM was selected because it performed best and is well suited to high-dimensional sparse text data. The project also integrates rule-based reasoning for routing and escalation, and explanation terms to make predictions more transparent. (~75 seconds)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4: Student …</a:t>
            </a:r>
          </a:p>
          <a:p>
            <a:endParaRPr lang="en-US" dirty="0"/>
          </a:p>
          <a:p>
            <a:r>
              <a:rPr lang="en-US" dirty="0"/>
              <a:t>The final results show useful predictive signal for customer support triage. Linear SVM was selected for both queue and priority prediction. On the held-out test set, queue prediction achieved macro F1 of 0.525 and priority prediction achieved macro F1 of 0.568. Some distinctive categories performed better, such as Billing and Payments with F1 around 0.779. These results show that the system can support first-pass triage, but the moderate scores also show why human review is still important. (~75 seconds)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5: Tumadhir (Live Demo)</a:t>
            </a:r>
          </a:p>
          <a:p>
            <a:endParaRPr lang="en-US" dirty="0"/>
          </a:p>
          <a:p>
            <a:r>
              <a:rPr lang="en-US" dirty="0"/>
              <a:t>The workflow begins with dataset auditing and cleaning. Then the subject and body text are prepared for NLP modelling. TF-IDF features are built, models are trained and compared, and final models are evaluated using held-out test data. The Streamlit app demonstrates the final decision-support layer. In the Try Solution tab, a user can analyse one ticket or upload a batch file. The output includes predicted queue, priority, recommended team, escalation status, summary, and explanation terms. (~70 seconds)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6: Student …</a:t>
            </a:r>
          </a:p>
          <a:p>
            <a:endParaRPr lang="en-US" dirty="0"/>
          </a:p>
          <a:p>
            <a:r>
              <a:rPr lang="en-US" dirty="0"/>
              <a:t>The system is intentionally designed as human-in-the-loop decision support. It does not make final customer service decisions independently. Responsible AI design choices include leakage control, privacy masking, explanation terms, and escalation rules for urgent cases. The main limitations are moderate macro F1, multilingual imbalance, and overlap between support categories. Future work could improve the model with transformer embeddings, calibrated confidence scores, stronger privacy redaction, active learning from agent feedback, and SLA-aware escalation. (~80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15E4B-A2D3-0EE3-D284-D1340FA44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BFF68-0FF6-E728-0C22-641BB25594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DFB63-043B-E257-DBD0-856E6B618A2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FFFFFF"/>
                </a:solidFill>
                <a:latin typeface="Trebuchet MS" pitchFamily="34" charset="0"/>
                <a:ea typeface="Trebuchet MS" pitchFamily="34" charset="-122"/>
                <a:cs typeface="Trebuchet MS" pitchFamily="34" charset="-120"/>
              </a:rPr>
              <a:t>SPEAKER 6: Student …</a:t>
            </a:r>
          </a:p>
          <a:p>
            <a:endParaRPr lang="en-GB" dirty="0"/>
          </a:p>
          <a:p>
            <a:r>
              <a:rPr lang="en-GB" dirty="0"/>
              <a:t>We'd like to thank you for listening — we're happy to take any questions.</a:t>
            </a:r>
            <a:endParaRPr lang="en-US" dirty="0"/>
          </a:p>
        </p:txBody>
      </p:sp>
      <p:sp>
        <p:nvSpPr>
          <p:cNvPr id="4" name="Slide Number Placeholder 3">
            <a:extLst>
              <a:ext uri="{FF2B5EF4-FFF2-40B4-BE49-F238E27FC236}">
                <a16:creationId xmlns:a16="http://schemas.microsoft.com/office/drawing/2014/main" id="{E283F988-8A26-C08C-AE45-7E9A728DBBC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896515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speaking time allocated. </a:t>
            </a:r>
            <a:br>
              <a:rPr lang="en-US" dirty="0"/>
            </a:br>
            <a:br>
              <a:rPr lang="en-US" dirty="0"/>
            </a:br>
            <a:r>
              <a:rPr lang="en-US" dirty="0"/>
              <a:t>WE WILL ONLY INCLUDE THIS IF IT IS VALIDATED AND TRUE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45123-CABD-1DCD-990F-0B7899F36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F07E8-BF94-3C21-B890-15B075090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6E62C5-51EC-3A0B-F295-0002635774B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FFBD72-1291-B8F2-1F63-4AF8F7962943}"/>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757525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5303520" cy="5143500"/>
          </a:xfrm>
          <a:prstGeom prst="rect">
            <a:avLst/>
          </a:prstGeom>
          <a:solidFill>
            <a:srgbClr val="112240"/>
          </a:solidFill>
          <a:ln w="12700">
            <a:solidFill>
              <a:srgbClr val="000000"/>
            </a:solidFill>
            <a:prstDash val="solid"/>
          </a:ln>
        </p:spPr>
        <p:txBody>
          <a:bodyPr/>
          <a:lstStyle/>
          <a:p>
            <a:endParaRPr lang="en-AU"/>
          </a:p>
        </p:txBody>
      </p:sp>
      <p:sp>
        <p:nvSpPr>
          <p:cNvPr id="3" name="Shape 1"/>
          <p:cNvSpPr/>
          <p:nvPr/>
        </p:nvSpPr>
        <p:spPr>
          <a:xfrm>
            <a:off x="0" y="0"/>
            <a:ext cx="164592" cy="5143500"/>
          </a:xfrm>
          <a:prstGeom prst="rect">
            <a:avLst/>
          </a:prstGeom>
          <a:solidFill>
            <a:srgbClr val="00C9B8"/>
          </a:solidFill>
          <a:ln w="12700">
            <a:solidFill>
              <a:srgbClr val="000000"/>
            </a:solidFill>
            <a:prstDash val="solid"/>
          </a:ln>
        </p:spPr>
        <p:txBody>
          <a:bodyPr/>
          <a:lstStyle/>
          <a:p>
            <a:endParaRPr lang="en-AU"/>
          </a:p>
        </p:txBody>
      </p:sp>
      <p:pic>
        <p:nvPicPr>
          <p:cNvPr id="4" name="Image 0" descr="preencoded.png"/>
          <p:cNvPicPr>
            <a:picLocks noChangeAspect="1"/>
          </p:cNvPicPr>
          <p:nvPr/>
        </p:nvPicPr>
        <p:blipFill>
          <a:blip r:embed="rId3"/>
          <a:stretch>
            <a:fillRect/>
          </a:stretch>
        </p:blipFill>
        <p:spPr>
          <a:xfrm>
            <a:off x="411480" y="320040"/>
            <a:ext cx="502920" cy="502920"/>
          </a:xfrm>
          <a:prstGeom prst="rect">
            <a:avLst/>
          </a:prstGeom>
        </p:spPr>
      </p:pic>
      <p:sp>
        <p:nvSpPr>
          <p:cNvPr id="5" name="Text 2"/>
          <p:cNvSpPr/>
          <p:nvPr/>
        </p:nvSpPr>
        <p:spPr>
          <a:xfrm>
            <a:off x="411480" y="868680"/>
            <a:ext cx="4663440" cy="68580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Ticket Routing Intelligence</a:t>
            </a:r>
            <a:endParaRPr lang="en-US" sz="3000" dirty="0"/>
          </a:p>
        </p:txBody>
      </p:sp>
      <p:sp>
        <p:nvSpPr>
          <p:cNvPr id="6" name="Text 3"/>
          <p:cNvSpPr/>
          <p:nvPr/>
        </p:nvSpPr>
        <p:spPr>
          <a:xfrm>
            <a:off x="411480" y="1600200"/>
            <a:ext cx="4572000" cy="777240"/>
          </a:xfrm>
          <a:prstGeom prst="rect">
            <a:avLst/>
          </a:prstGeom>
          <a:noFill/>
          <a:ln/>
        </p:spPr>
        <p:txBody>
          <a:bodyPr wrap="square" lIns="0" tIns="0" rIns="0" bIns="0" rtlCol="0" anchor="ctr"/>
          <a:lstStyle/>
          <a:p>
            <a:pPr marL="0" indent="0">
              <a:buNone/>
            </a:pPr>
            <a:r>
              <a:rPr lang="en-US" sz="1300" dirty="0">
                <a:solidFill>
                  <a:srgbClr val="00C9B8"/>
                </a:solidFill>
                <a:latin typeface="Trebuchet MS" pitchFamily="34" charset="0"/>
                <a:ea typeface="Trebuchet MS" pitchFamily="34" charset="-122"/>
                <a:cs typeface="Trebuchet MS" pitchFamily="34" charset="-120"/>
              </a:rPr>
              <a:t>Explainable Multilingual Queue and Priority</a:t>
            </a:r>
            <a:endParaRPr lang="en-US" sz="1300" dirty="0"/>
          </a:p>
          <a:p>
            <a:pPr marL="0" indent="0">
              <a:buNone/>
            </a:pPr>
            <a:r>
              <a:rPr lang="en-US" sz="1300" dirty="0">
                <a:solidFill>
                  <a:srgbClr val="00C9B8"/>
                </a:solidFill>
                <a:latin typeface="Trebuchet MS" pitchFamily="34" charset="0"/>
                <a:ea typeface="Trebuchet MS" pitchFamily="34" charset="-122"/>
                <a:cs typeface="Trebuchet MS" pitchFamily="34" charset="-120"/>
              </a:rPr>
              <a:t>Prediction for Customer Support Triage</a:t>
            </a:r>
            <a:endParaRPr lang="en-US" sz="1300" dirty="0"/>
          </a:p>
        </p:txBody>
      </p:sp>
      <p:sp>
        <p:nvSpPr>
          <p:cNvPr id="7" name="Shape 4"/>
          <p:cNvSpPr/>
          <p:nvPr/>
        </p:nvSpPr>
        <p:spPr>
          <a:xfrm>
            <a:off x="411480" y="2468880"/>
            <a:ext cx="4480560" cy="320040"/>
          </a:xfrm>
          <a:prstGeom prst="rect">
            <a:avLst/>
          </a:prstGeom>
          <a:solidFill>
            <a:srgbClr val="1A2F4A"/>
          </a:solidFill>
          <a:ln w="6350">
            <a:solidFill>
              <a:srgbClr val="00C9B8"/>
            </a:solidFill>
            <a:prstDash val="solid"/>
          </a:ln>
        </p:spPr>
        <p:txBody>
          <a:bodyPr/>
          <a:lstStyle/>
          <a:p>
            <a:endParaRPr lang="en-AU"/>
          </a:p>
        </p:txBody>
      </p:sp>
      <p:sp>
        <p:nvSpPr>
          <p:cNvPr id="8" name="Text 5"/>
          <p:cNvSpPr/>
          <p:nvPr/>
        </p:nvSpPr>
        <p:spPr>
          <a:xfrm>
            <a:off x="502920" y="2487168"/>
            <a:ext cx="4297680" cy="274320"/>
          </a:xfrm>
          <a:prstGeom prst="rect">
            <a:avLst/>
          </a:prstGeom>
          <a:noFill/>
          <a:ln/>
        </p:spPr>
        <p:txBody>
          <a:bodyPr wrap="square" lIns="0" tIns="0" rIns="0" bIns="0" rtlCol="0" anchor="ctr"/>
          <a:lstStyle/>
          <a:p>
            <a:pPr marL="0" indent="0">
              <a:buNone/>
            </a:pPr>
            <a:r>
              <a:rPr lang="en-US" sz="950" dirty="0">
                <a:solidFill>
                  <a:srgbClr val="00C9B8"/>
                </a:solidFill>
                <a:latin typeface="Trebuchet MS" pitchFamily="34" charset="0"/>
                <a:ea typeface="Trebuchet MS" pitchFamily="34" charset="-122"/>
                <a:cs typeface="Trebuchet MS" pitchFamily="34" charset="-120"/>
              </a:rPr>
              <a:t>36121 AI Principles and Applications  ·  AT3  ·  Group 2</a:t>
            </a:r>
            <a:endParaRPr lang="en-US" sz="950" dirty="0"/>
          </a:p>
        </p:txBody>
      </p:sp>
      <p:pic>
        <p:nvPicPr>
          <p:cNvPr id="9" name="Image 1" descr="preencoded.png"/>
          <p:cNvPicPr>
            <a:picLocks noChangeAspect="1"/>
          </p:cNvPicPr>
          <p:nvPr/>
        </p:nvPicPr>
        <p:blipFill>
          <a:blip r:embed="rId4"/>
          <a:stretch>
            <a:fillRect/>
          </a:stretch>
        </p:blipFill>
        <p:spPr>
          <a:xfrm>
            <a:off x="411480" y="2880360"/>
            <a:ext cx="256032" cy="256032"/>
          </a:xfrm>
          <a:prstGeom prst="rect">
            <a:avLst/>
          </a:prstGeom>
        </p:spPr>
      </p:pic>
      <p:sp>
        <p:nvSpPr>
          <p:cNvPr id="10" name="Text 6"/>
          <p:cNvSpPr/>
          <p:nvPr/>
        </p:nvSpPr>
        <p:spPr>
          <a:xfrm>
            <a:off x="749808" y="2880360"/>
            <a:ext cx="4114800" cy="256032"/>
          </a:xfrm>
          <a:prstGeom prst="rect">
            <a:avLst/>
          </a:prstGeom>
          <a:noFill/>
          <a:ln/>
        </p:spPr>
        <p:txBody>
          <a:bodyPr wrap="square" lIns="0" tIns="0" rIns="0" bIns="0" rtlCol="0" anchor="ctr"/>
          <a:lstStyle/>
          <a:p>
            <a:r>
              <a:rPr lang="en-US" sz="950" dirty="0">
                <a:solidFill>
                  <a:srgbClr val="8BA8BF"/>
                </a:solidFill>
                <a:latin typeface="Trebuchet MS" pitchFamily="34" charset="0"/>
                <a:ea typeface="Trebuchet MS" pitchFamily="34" charset="-122"/>
                <a:cs typeface="Trebuchet MS" pitchFamily="34" charset="-120"/>
              </a:rPr>
              <a:t>https://github.com/ETHLOB/trn-uts-aipa.git</a:t>
            </a:r>
            <a:endParaRPr lang="en-US" sz="950" dirty="0"/>
          </a:p>
        </p:txBody>
      </p:sp>
      <p:sp>
        <p:nvSpPr>
          <p:cNvPr id="12" name="Text 8"/>
          <p:cNvSpPr/>
          <p:nvPr/>
        </p:nvSpPr>
        <p:spPr>
          <a:xfrm>
            <a:off x="475488" y="3310128"/>
            <a:ext cx="1188720" cy="219456"/>
          </a:xfrm>
          <a:prstGeom prst="rect">
            <a:avLst/>
          </a:prstGeom>
          <a:noFill/>
          <a:ln/>
        </p:spPr>
        <p:txBody>
          <a:bodyPr wrap="square" lIns="0" tIns="0" rIns="0" bIns="0" rtlCol="0" anchor="ctr"/>
          <a:lstStyle/>
          <a:p>
            <a:pPr marL="0" indent="0">
              <a:buNone/>
            </a:pPr>
            <a:endParaRPr lang="en-US" sz="800" dirty="0"/>
          </a:p>
        </p:txBody>
      </p:sp>
      <p:sp>
        <p:nvSpPr>
          <p:cNvPr id="13" name="Shape 9"/>
          <p:cNvSpPr/>
          <p:nvPr/>
        </p:nvSpPr>
        <p:spPr>
          <a:xfrm>
            <a:off x="5440680" y="0"/>
            <a:ext cx="3703320" cy="5143500"/>
          </a:xfrm>
          <a:prstGeom prst="rect">
            <a:avLst/>
          </a:prstGeom>
          <a:solidFill>
            <a:srgbClr val="1A2F4A"/>
          </a:solidFill>
          <a:ln w="12700">
            <a:solidFill>
              <a:srgbClr val="000000"/>
            </a:solidFill>
            <a:prstDash val="solid"/>
          </a:ln>
        </p:spPr>
        <p:txBody>
          <a:bodyPr/>
          <a:lstStyle/>
          <a:p>
            <a:endParaRPr lang="en-AU"/>
          </a:p>
        </p:txBody>
      </p:sp>
      <p:sp>
        <p:nvSpPr>
          <p:cNvPr id="14" name="Text 10"/>
          <p:cNvSpPr/>
          <p:nvPr/>
        </p:nvSpPr>
        <p:spPr>
          <a:xfrm>
            <a:off x="5623560" y="320040"/>
            <a:ext cx="338328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GROUP MEMBERS</a:t>
            </a:r>
            <a:endParaRPr lang="en-US" sz="1100" dirty="0"/>
          </a:p>
        </p:txBody>
      </p:sp>
      <p:sp>
        <p:nvSpPr>
          <p:cNvPr id="15" name="Shape 11"/>
          <p:cNvSpPr/>
          <p:nvPr/>
        </p:nvSpPr>
        <p:spPr>
          <a:xfrm>
            <a:off x="5623560" y="777240"/>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6" name="Shape 12"/>
          <p:cNvSpPr/>
          <p:nvPr/>
        </p:nvSpPr>
        <p:spPr>
          <a:xfrm>
            <a:off x="5687568" y="996696"/>
            <a:ext cx="109728" cy="109728"/>
          </a:xfrm>
          <a:prstGeom prst="ellipse">
            <a:avLst/>
          </a:prstGeom>
          <a:solidFill>
            <a:srgbClr val="00C9B8"/>
          </a:solidFill>
          <a:ln w="12700">
            <a:solidFill>
              <a:srgbClr val="000000"/>
            </a:solidFill>
            <a:prstDash val="solid"/>
          </a:ln>
        </p:spPr>
        <p:txBody>
          <a:bodyPr/>
          <a:lstStyle/>
          <a:p>
            <a:endParaRPr lang="en-AU"/>
          </a:p>
        </p:txBody>
      </p:sp>
      <p:sp>
        <p:nvSpPr>
          <p:cNvPr id="17" name="Text 13"/>
          <p:cNvSpPr/>
          <p:nvPr/>
        </p:nvSpPr>
        <p:spPr>
          <a:xfrm>
            <a:off x="5888736" y="832104"/>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Tumadhir Alsharhan</a:t>
            </a:r>
            <a:endParaRPr lang="en-US" sz="1100" dirty="0"/>
          </a:p>
        </p:txBody>
      </p:sp>
      <p:sp>
        <p:nvSpPr>
          <p:cNvPr id="18" name="Text 14"/>
          <p:cNvSpPr/>
          <p:nvPr/>
        </p:nvSpPr>
        <p:spPr>
          <a:xfrm>
            <a:off x="5888736" y="1051560"/>
            <a:ext cx="2377440" cy="201168"/>
          </a:xfrm>
          <a:prstGeom prst="rect">
            <a:avLst/>
          </a:prstGeom>
          <a:noFill/>
          <a:ln/>
        </p:spPr>
        <p:txBody>
          <a:bodyPr wrap="square" lIns="0" tIns="0" rIns="0" bIns="0" rtlCol="0" anchor="ctr"/>
          <a:lstStyle/>
          <a:p>
            <a:pPr marL="0" indent="0">
              <a:buNone/>
            </a:pPr>
            <a:r>
              <a:rPr lang="en-US" sz="900" dirty="0">
                <a:solidFill>
                  <a:srgbClr val="8BA8BF"/>
                </a:solidFill>
                <a:latin typeface="Trebuchet MS" pitchFamily="34" charset="0"/>
                <a:ea typeface="Trebuchet MS" pitchFamily="34" charset="-122"/>
                <a:cs typeface="Trebuchet MS" pitchFamily="34" charset="-120"/>
              </a:rPr>
              <a:t>ID: 25605852</a:t>
            </a:r>
            <a:endParaRPr lang="en-US" sz="900" dirty="0"/>
          </a:p>
        </p:txBody>
      </p:sp>
      <p:sp>
        <p:nvSpPr>
          <p:cNvPr id="19" name="Shape 15"/>
          <p:cNvSpPr/>
          <p:nvPr/>
        </p:nvSpPr>
        <p:spPr>
          <a:xfrm>
            <a:off x="5623560" y="1444752"/>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0" name="Shape 16"/>
          <p:cNvSpPr/>
          <p:nvPr/>
        </p:nvSpPr>
        <p:spPr>
          <a:xfrm>
            <a:off x="5687568" y="1664208"/>
            <a:ext cx="109728" cy="109728"/>
          </a:xfrm>
          <a:prstGeom prst="ellipse">
            <a:avLst/>
          </a:prstGeom>
          <a:solidFill>
            <a:srgbClr val="00C9B8"/>
          </a:solidFill>
          <a:ln w="12700">
            <a:solidFill>
              <a:srgbClr val="000000"/>
            </a:solidFill>
            <a:prstDash val="solid"/>
          </a:ln>
        </p:spPr>
        <p:txBody>
          <a:bodyPr/>
          <a:lstStyle/>
          <a:p>
            <a:endParaRPr lang="en-AU"/>
          </a:p>
        </p:txBody>
      </p:sp>
      <p:sp>
        <p:nvSpPr>
          <p:cNvPr id="21" name="Text 17"/>
          <p:cNvSpPr/>
          <p:nvPr/>
        </p:nvSpPr>
        <p:spPr>
          <a:xfrm>
            <a:off x="5888736" y="1499616"/>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Student 2</a:t>
            </a:r>
            <a:endParaRPr lang="en-US" sz="1100" dirty="0"/>
          </a:p>
        </p:txBody>
      </p:sp>
      <p:sp>
        <p:nvSpPr>
          <p:cNvPr id="22" name="Text 18"/>
          <p:cNvSpPr/>
          <p:nvPr/>
        </p:nvSpPr>
        <p:spPr>
          <a:xfrm>
            <a:off x="5888736" y="1719072"/>
            <a:ext cx="2377440" cy="201168"/>
          </a:xfrm>
          <a:prstGeom prst="rect">
            <a:avLst/>
          </a:prstGeom>
          <a:noFill/>
          <a:ln/>
        </p:spPr>
        <p:txBody>
          <a:bodyPr wrap="square" lIns="0" tIns="0" rIns="0" bIns="0" rtlCol="0" anchor="ctr"/>
          <a:lstStyle/>
          <a:p>
            <a:pPr marL="0" indent="0">
              <a:buNone/>
            </a:pPr>
            <a:r>
              <a:rPr lang="en-US" sz="900" dirty="0">
                <a:solidFill>
                  <a:srgbClr val="8BA8BF"/>
                </a:solidFill>
                <a:latin typeface="Trebuchet MS" pitchFamily="34" charset="0"/>
                <a:ea typeface="Trebuchet MS" pitchFamily="34" charset="-122"/>
                <a:cs typeface="Trebuchet MS" pitchFamily="34" charset="-120"/>
              </a:rPr>
              <a:t>ID: 00000000</a:t>
            </a:r>
            <a:endParaRPr lang="en-US" sz="900" dirty="0"/>
          </a:p>
        </p:txBody>
      </p:sp>
      <p:sp>
        <p:nvSpPr>
          <p:cNvPr id="23" name="Shape 19"/>
          <p:cNvSpPr/>
          <p:nvPr/>
        </p:nvSpPr>
        <p:spPr>
          <a:xfrm>
            <a:off x="5623560" y="2112264"/>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4" name="Shape 20"/>
          <p:cNvSpPr/>
          <p:nvPr/>
        </p:nvSpPr>
        <p:spPr>
          <a:xfrm>
            <a:off x="5687568" y="2331720"/>
            <a:ext cx="109728" cy="109728"/>
          </a:xfrm>
          <a:prstGeom prst="ellipse">
            <a:avLst/>
          </a:prstGeom>
          <a:solidFill>
            <a:srgbClr val="00C9B8"/>
          </a:solidFill>
          <a:ln w="12700">
            <a:solidFill>
              <a:srgbClr val="000000"/>
            </a:solidFill>
            <a:prstDash val="solid"/>
          </a:ln>
        </p:spPr>
        <p:txBody>
          <a:bodyPr/>
          <a:lstStyle/>
          <a:p>
            <a:endParaRPr lang="en-AU"/>
          </a:p>
        </p:txBody>
      </p:sp>
      <p:sp>
        <p:nvSpPr>
          <p:cNvPr id="25" name="Text 21"/>
          <p:cNvSpPr/>
          <p:nvPr/>
        </p:nvSpPr>
        <p:spPr>
          <a:xfrm>
            <a:off x="5888736" y="2167128"/>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Student 3</a:t>
            </a:r>
            <a:endParaRPr lang="en-US" sz="1100" dirty="0"/>
          </a:p>
        </p:txBody>
      </p:sp>
      <p:sp>
        <p:nvSpPr>
          <p:cNvPr id="26" name="Text 22"/>
          <p:cNvSpPr/>
          <p:nvPr/>
        </p:nvSpPr>
        <p:spPr>
          <a:xfrm>
            <a:off x="5888736" y="2386584"/>
            <a:ext cx="2377440" cy="201168"/>
          </a:xfrm>
          <a:prstGeom prst="rect">
            <a:avLst/>
          </a:prstGeom>
          <a:noFill/>
          <a:ln/>
        </p:spPr>
        <p:txBody>
          <a:bodyPr wrap="square" lIns="0" tIns="0" rIns="0" bIns="0" rtlCol="0" anchor="ctr"/>
          <a:lstStyle/>
          <a:p>
            <a:r>
              <a:rPr lang="en-US" sz="900" dirty="0">
                <a:solidFill>
                  <a:srgbClr val="8BA8BF"/>
                </a:solidFill>
                <a:latin typeface="Trebuchet MS" pitchFamily="34" charset="0"/>
                <a:ea typeface="Trebuchet MS" pitchFamily="34" charset="-122"/>
                <a:cs typeface="Trebuchet MS" pitchFamily="34" charset="-120"/>
              </a:rPr>
              <a:t>ID: 00000000</a:t>
            </a:r>
            <a:endParaRPr lang="en-US" sz="900" dirty="0"/>
          </a:p>
        </p:txBody>
      </p:sp>
      <p:sp>
        <p:nvSpPr>
          <p:cNvPr id="27" name="Shape 23"/>
          <p:cNvSpPr/>
          <p:nvPr/>
        </p:nvSpPr>
        <p:spPr>
          <a:xfrm>
            <a:off x="5623560" y="2779776"/>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8" name="Shape 24"/>
          <p:cNvSpPr/>
          <p:nvPr/>
        </p:nvSpPr>
        <p:spPr>
          <a:xfrm>
            <a:off x="5687568" y="2999232"/>
            <a:ext cx="109728" cy="109728"/>
          </a:xfrm>
          <a:prstGeom prst="ellipse">
            <a:avLst/>
          </a:prstGeom>
          <a:solidFill>
            <a:srgbClr val="00C9B8"/>
          </a:solidFill>
          <a:ln w="12700">
            <a:solidFill>
              <a:srgbClr val="000000"/>
            </a:solidFill>
            <a:prstDash val="solid"/>
          </a:ln>
        </p:spPr>
        <p:txBody>
          <a:bodyPr/>
          <a:lstStyle/>
          <a:p>
            <a:endParaRPr lang="en-AU"/>
          </a:p>
        </p:txBody>
      </p:sp>
      <p:sp>
        <p:nvSpPr>
          <p:cNvPr id="29" name="Text 25"/>
          <p:cNvSpPr/>
          <p:nvPr/>
        </p:nvSpPr>
        <p:spPr>
          <a:xfrm>
            <a:off x="5888736" y="2834640"/>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Student 4</a:t>
            </a:r>
            <a:endParaRPr lang="en-US" sz="1100" dirty="0"/>
          </a:p>
        </p:txBody>
      </p:sp>
      <p:sp>
        <p:nvSpPr>
          <p:cNvPr id="30" name="Text 26"/>
          <p:cNvSpPr/>
          <p:nvPr/>
        </p:nvSpPr>
        <p:spPr>
          <a:xfrm>
            <a:off x="5888736" y="3054096"/>
            <a:ext cx="2377440" cy="201168"/>
          </a:xfrm>
          <a:prstGeom prst="rect">
            <a:avLst/>
          </a:prstGeom>
          <a:noFill/>
          <a:ln/>
        </p:spPr>
        <p:txBody>
          <a:bodyPr wrap="square" lIns="0" tIns="0" rIns="0" bIns="0" rtlCol="0" anchor="ctr"/>
          <a:lstStyle/>
          <a:p>
            <a:r>
              <a:rPr lang="en-US" sz="900" dirty="0">
                <a:solidFill>
                  <a:srgbClr val="8BA8BF"/>
                </a:solidFill>
                <a:latin typeface="Trebuchet MS" pitchFamily="34" charset="0"/>
                <a:ea typeface="Trebuchet MS" pitchFamily="34" charset="-122"/>
                <a:cs typeface="Trebuchet MS" pitchFamily="34" charset="-120"/>
              </a:rPr>
              <a:t>ID: 00000000</a:t>
            </a:r>
            <a:endParaRPr lang="en-US" sz="900" dirty="0"/>
          </a:p>
        </p:txBody>
      </p:sp>
      <p:sp>
        <p:nvSpPr>
          <p:cNvPr id="31" name="Shape 27"/>
          <p:cNvSpPr/>
          <p:nvPr/>
        </p:nvSpPr>
        <p:spPr>
          <a:xfrm>
            <a:off x="5623560" y="3447288"/>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2" name="Shape 28"/>
          <p:cNvSpPr/>
          <p:nvPr/>
        </p:nvSpPr>
        <p:spPr>
          <a:xfrm>
            <a:off x="5687568" y="3666744"/>
            <a:ext cx="109728" cy="109728"/>
          </a:xfrm>
          <a:prstGeom prst="ellipse">
            <a:avLst/>
          </a:prstGeom>
          <a:solidFill>
            <a:srgbClr val="00C9B8"/>
          </a:solidFill>
          <a:ln w="12700">
            <a:solidFill>
              <a:srgbClr val="000000"/>
            </a:solidFill>
            <a:prstDash val="solid"/>
          </a:ln>
        </p:spPr>
        <p:txBody>
          <a:bodyPr/>
          <a:lstStyle/>
          <a:p>
            <a:endParaRPr lang="en-AU"/>
          </a:p>
        </p:txBody>
      </p:sp>
      <p:sp>
        <p:nvSpPr>
          <p:cNvPr id="33" name="Text 29"/>
          <p:cNvSpPr/>
          <p:nvPr/>
        </p:nvSpPr>
        <p:spPr>
          <a:xfrm>
            <a:off x="5888736" y="3502152"/>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Student 5</a:t>
            </a:r>
            <a:endParaRPr lang="en-US" sz="1100" dirty="0"/>
          </a:p>
        </p:txBody>
      </p:sp>
      <p:sp>
        <p:nvSpPr>
          <p:cNvPr id="34" name="Text 30"/>
          <p:cNvSpPr/>
          <p:nvPr/>
        </p:nvSpPr>
        <p:spPr>
          <a:xfrm>
            <a:off x="5888736" y="3721608"/>
            <a:ext cx="2377440" cy="201168"/>
          </a:xfrm>
          <a:prstGeom prst="rect">
            <a:avLst/>
          </a:prstGeom>
          <a:noFill/>
          <a:ln/>
        </p:spPr>
        <p:txBody>
          <a:bodyPr wrap="square" lIns="0" tIns="0" rIns="0" bIns="0" rtlCol="0" anchor="ctr"/>
          <a:lstStyle/>
          <a:p>
            <a:r>
              <a:rPr lang="en-US" sz="900" dirty="0">
                <a:solidFill>
                  <a:srgbClr val="8BA8BF"/>
                </a:solidFill>
                <a:latin typeface="Trebuchet MS" pitchFamily="34" charset="0"/>
                <a:ea typeface="Trebuchet MS" pitchFamily="34" charset="-122"/>
                <a:cs typeface="Trebuchet MS" pitchFamily="34" charset="-120"/>
              </a:rPr>
              <a:t>ID: 00000000</a:t>
            </a:r>
            <a:endParaRPr lang="en-US" sz="900" dirty="0"/>
          </a:p>
        </p:txBody>
      </p:sp>
      <p:sp>
        <p:nvSpPr>
          <p:cNvPr id="35" name="Shape 31"/>
          <p:cNvSpPr/>
          <p:nvPr/>
        </p:nvSpPr>
        <p:spPr>
          <a:xfrm>
            <a:off x="5623560" y="4114800"/>
            <a:ext cx="3200400" cy="548640"/>
          </a:xfrm>
          <a:prstGeom prst="rect">
            <a:avLst/>
          </a:prstGeom>
          <a:solidFill>
            <a:srgbClr val="1E3A5F"/>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6" name="Shape 32"/>
          <p:cNvSpPr/>
          <p:nvPr/>
        </p:nvSpPr>
        <p:spPr>
          <a:xfrm>
            <a:off x="5687568" y="4334256"/>
            <a:ext cx="109728" cy="109728"/>
          </a:xfrm>
          <a:prstGeom prst="ellipse">
            <a:avLst/>
          </a:prstGeom>
          <a:solidFill>
            <a:srgbClr val="00C9B8"/>
          </a:solidFill>
          <a:ln w="12700">
            <a:solidFill>
              <a:srgbClr val="000000"/>
            </a:solidFill>
            <a:prstDash val="solid"/>
          </a:ln>
        </p:spPr>
        <p:txBody>
          <a:bodyPr/>
          <a:lstStyle/>
          <a:p>
            <a:endParaRPr lang="en-AU"/>
          </a:p>
        </p:txBody>
      </p:sp>
      <p:sp>
        <p:nvSpPr>
          <p:cNvPr id="37" name="Text 33"/>
          <p:cNvSpPr/>
          <p:nvPr/>
        </p:nvSpPr>
        <p:spPr>
          <a:xfrm>
            <a:off x="5888736" y="4169664"/>
            <a:ext cx="2377440" cy="237744"/>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Student 6</a:t>
            </a:r>
            <a:endParaRPr lang="en-US" sz="1100" dirty="0"/>
          </a:p>
        </p:txBody>
      </p:sp>
      <p:sp>
        <p:nvSpPr>
          <p:cNvPr id="38" name="Text 34"/>
          <p:cNvSpPr/>
          <p:nvPr/>
        </p:nvSpPr>
        <p:spPr>
          <a:xfrm>
            <a:off x="5888736" y="4389120"/>
            <a:ext cx="2377440" cy="201168"/>
          </a:xfrm>
          <a:prstGeom prst="rect">
            <a:avLst/>
          </a:prstGeom>
          <a:noFill/>
          <a:ln/>
        </p:spPr>
        <p:txBody>
          <a:bodyPr wrap="square" lIns="0" tIns="0" rIns="0" bIns="0" rtlCol="0" anchor="ctr"/>
          <a:lstStyle/>
          <a:p>
            <a:r>
              <a:rPr lang="en-US" sz="900" dirty="0">
                <a:solidFill>
                  <a:srgbClr val="8BA8BF"/>
                </a:solidFill>
                <a:latin typeface="Trebuchet MS" pitchFamily="34" charset="0"/>
                <a:ea typeface="Trebuchet MS" pitchFamily="34" charset="-122"/>
                <a:cs typeface="Trebuchet MS" pitchFamily="34" charset="-120"/>
              </a:rPr>
              <a:t>ID: 00000000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Real-World Problem &amp; Business Need</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60120"/>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60120"/>
            <a:ext cx="64008" cy="868680"/>
          </a:xfrm>
          <a:prstGeom prst="rect">
            <a:avLst/>
          </a:prstGeom>
          <a:solidFill>
            <a:srgbClr val="FF6B6B"/>
          </a:solidFill>
          <a:ln w="12700">
            <a:solidFill>
              <a:srgbClr val="000000"/>
            </a:solidFill>
            <a:prstDash val="solid"/>
          </a:ln>
        </p:spPr>
        <p:txBody>
          <a:bodyPr/>
          <a:lstStyle/>
          <a:p>
            <a:endParaRPr lang="en-AU"/>
          </a:p>
        </p:txBody>
      </p:sp>
      <p:pic>
        <p:nvPicPr>
          <p:cNvPr id="6" name="Image 0" descr="preencoded.png"/>
          <p:cNvPicPr>
            <a:picLocks noChangeAspect="1"/>
          </p:cNvPicPr>
          <p:nvPr/>
        </p:nvPicPr>
        <p:blipFill>
          <a:blip r:embed="rId3"/>
          <a:stretch>
            <a:fillRect/>
          </a:stretch>
        </p:blipFill>
        <p:spPr>
          <a:xfrm>
            <a:off x="530352" y="1133856"/>
            <a:ext cx="347472" cy="347472"/>
          </a:xfrm>
          <a:prstGeom prst="rect">
            <a:avLst/>
          </a:prstGeom>
        </p:spPr>
      </p:pic>
      <p:sp>
        <p:nvSpPr>
          <p:cNvPr id="7" name="Text 4"/>
          <p:cNvSpPr/>
          <p:nvPr/>
        </p:nvSpPr>
        <p:spPr>
          <a:xfrm>
            <a:off x="960120" y="1051560"/>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High Ticket Volume</a:t>
            </a:r>
            <a:endParaRPr lang="en-US" sz="1200" dirty="0"/>
          </a:p>
        </p:txBody>
      </p:sp>
      <p:sp>
        <p:nvSpPr>
          <p:cNvPr id="8" name="Text 5"/>
          <p:cNvSpPr/>
          <p:nvPr/>
        </p:nvSpPr>
        <p:spPr>
          <a:xfrm>
            <a:off x="960120" y="1298448"/>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Support teams handle thousands of unstructured tickets daily across multiple languages and categories.</a:t>
            </a:r>
            <a:endParaRPr lang="en-US" sz="950" dirty="0"/>
          </a:p>
        </p:txBody>
      </p:sp>
      <p:sp>
        <p:nvSpPr>
          <p:cNvPr id="9" name="Shape 6"/>
          <p:cNvSpPr/>
          <p:nvPr/>
        </p:nvSpPr>
        <p:spPr>
          <a:xfrm>
            <a:off x="365760" y="1938528"/>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0" name="Shape 7"/>
          <p:cNvSpPr/>
          <p:nvPr/>
        </p:nvSpPr>
        <p:spPr>
          <a:xfrm>
            <a:off x="365760" y="1938528"/>
            <a:ext cx="64008" cy="868680"/>
          </a:xfrm>
          <a:prstGeom prst="rect">
            <a:avLst/>
          </a:prstGeom>
          <a:solidFill>
            <a:srgbClr val="F5C842"/>
          </a:solidFill>
          <a:ln w="12700">
            <a:solidFill>
              <a:srgbClr val="000000"/>
            </a:solidFill>
            <a:prstDash val="solid"/>
          </a:ln>
        </p:spPr>
        <p:txBody>
          <a:bodyPr/>
          <a:lstStyle/>
          <a:p>
            <a:endParaRPr lang="en-AU"/>
          </a:p>
        </p:txBody>
      </p:sp>
      <p:pic>
        <p:nvPicPr>
          <p:cNvPr id="11" name="Image 1" descr="preencoded.png"/>
          <p:cNvPicPr>
            <a:picLocks noChangeAspect="1"/>
          </p:cNvPicPr>
          <p:nvPr/>
        </p:nvPicPr>
        <p:blipFill>
          <a:blip r:embed="rId4"/>
          <a:stretch>
            <a:fillRect/>
          </a:stretch>
        </p:blipFill>
        <p:spPr>
          <a:xfrm>
            <a:off x="530352" y="2112264"/>
            <a:ext cx="347472" cy="347472"/>
          </a:xfrm>
          <a:prstGeom prst="rect">
            <a:avLst/>
          </a:prstGeom>
        </p:spPr>
      </p:pic>
      <p:sp>
        <p:nvSpPr>
          <p:cNvPr id="12" name="Text 8"/>
          <p:cNvSpPr/>
          <p:nvPr/>
        </p:nvSpPr>
        <p:spPr>
          <a:xfrm>
            <a:off x="960120" y="2029968"/>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Slow Manual Triage</a:t>
            </a:r>
            <a:endParaRPr lang="en-US" sz="1200" dirty="0"/>
          </a:p>
        </p:txBody>
      </p:sp>
      <p:sp>
        <p:nvSpPr>
          <p:cNvPr id="13" name="Text 9"/>
          <p:cNvSpPr/>
          <p:nvPr/>
        </p:nvSpPr>
        <p:spPr>
          <a:xfrm>
            <a:off x="960120" y="2276856"/>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Manual classification is time-consuming and creates bottlenecks for urgent issues.</a:t>
            </a:r>
            <a:endParaRPr lang="en-US" sz="950" dirty="0"/>
          </a:p>
        </p:txBody>
      </p:sp>
      <p:sp>
        <p:nvSpPr>
          <p:cNvPr id="14" name="Shape 10"/>
          <p:cNvSpPr/>
          <p:nvPr/>
        </p:nvSpPr>
        <p:spPr>
          <a:xfrm>
            <a:off x="365760" y="2916936"/>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5" name="Shape 11"/>
          <p:cNvSpPr/>
          <p:nvPr/>
        </p:nvSpPr>
        <p:spPr>
          <a:xfrm>
            <a:off x="365760" y="2916936"/>
            <a:ext cx="64008" cy="868680"/>
          </a:xfrm>
          <a:prstGeom prst="rect">
            <a:avLst/>
          </a:prstGeom>
          <a:solidFill>
            <a:srgbClr val="00C9B8"/>
          </a:solidFill>
          <a:ln w="12700">
            <a:solidFill>
              <a:srgbClr val="000000"/>
            </a:solidFill>
            <a:prstDash val="solid"/>
          </a:ln>
        </p:spPr>
        <p:txBody>
          <a:bodyPr/>
          <a:lstStyle/>
          <a:p>
            <a:endParaRPr lang="en-AU"/>
          </a:p>
        </p:txBody>
      </p:sp>
      <p:pic>
        <p:nvPicPr>
          <p:cNvPr id="16" name="Image 2" descr="preencoded.png"/>
          <p:cNvPicPr>
            <a:picLocks noChangeAspect="1"/>
          </p:cNvPicPr>
          <p:nvPr/>
        </p:nvPicPr>
        <p:blipFill>
          <a:blip r:embed="rId5"/>
          <a:stretch>
            <a:fillRect/>
          </a:stretch>
        </p:blipFill>
        <p:spPr>
          <a:xfrm>
            <a:off x="530352" y="3090672"/>
            <a:ext cx="347472" cy="347472"/>
          </a:xfrm>
          <a:prstGeom prst="rect">
            <a:avLst/>
          </a:prstGeom>
        </p:spPr>
      </p:pic>
      <p:sp>
        <p:nvSpPr>
          <p:cNvPr id="17" name="Text 12"/>
          <p:cNvSpPr/>
          <p:nvPr/>
        </p:nvSpPr>
        <p:spPr>
          <a:xfrm>
            <a:off x="960120" y="3008376"/>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Inconsistent Routing</a:t>
            </a:r>
            <a:endParaRPr lang="en-US" sz="1200" dirty="0"/>
          </a:p>
        </p:txBody>
      </p:sp>
      <p:sp>
        <p:nvSpPr>
          <p:cNvPr id="18" name="Text 13"/>
          <p:cNvSpPr/>
          <p:nvPr/>
        </p:nvSpPr>
        <p:spPr>
          <a:xfrm>
            <a:off x="960120" y="3255264"/>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Without structure, similar tickets may be handled differently by different agents.</a:t>
            </a:r>
            <a:endParaRPr lang="en-US" sz="950" dirty="0"/>
          </a:p>
        </p:txBody>
      </p:sp>
      <p:sp>
        <p:nvSpPr>
          <p:cNvPr id="19" name="Shape 14"/>
          <p:cNvSpPr/>
          <p:nvPr/>
        </p:nvSpPr>
        <p:spPr>
          <a:xfrm>
            <a:off x="365760" y="3895344"/>
            <a:ext cx="4206240" cy="868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0" name="Shape 15"/>
          <p:cNvSpPr/>
          <p:nvPr/>
        </p:nvSpPr>
        <p:spPr>
          <a:xfrm>
            <a:off x="365760" y="3895344"/>
            <a:ext cx="64008" cy="868680"/>
          </a:xfrm>
          <a:prstGeom prst="rect">
            <a:avLst/>
          </a:prstGeom>
          <a:solidFill>
            <a:srgbClr val="E85555"/>
          </a:solidFill>
          <a:ln w="12700">
            <a:solidFill>
              <a:srgbClr val="000000"/>
            </a:solidFill>
            <a:prstDash val="solid"/>
          </a:ln>
        </p:spPr>
        <p:txBody>
          <a:bodyPr/>
          <a:lstStyle/>
          <a:p>
            <a:endParaRPr lang="en-AU"/>
          </a:p>
        </p:txBody>
      </p:sp>
      <p:pic>
        <p:nvPicPr>
          <p:cNvPr id="21" name="Image 3" descr="preencoded.png"/>
          <p:cNvPicPr>
            <a:picLocks noChangeAspect="1"/>
          </p:cNvPicPr>
          <p:nvPr/>
        </p:nvPicPr>
        <p:blipFill>
          <a:blip r:embed="rId6"/>
          <a:stretch>
            <a:fillRect/>
          </a:stretch>
        </p:blipFill>
        <p:spPr>
          <a:xfrm>
            <a:off x="530352" y="4069080"/>
            <a:ext cx="347472" cy="347472"/>
          </a:xfrm>
          <a:prstGeom prst="rect">
            <a:avLst/>
          </a:prstGeom>
        </p:spPr>
      </p:pic>
      <p:sp>
        <p:nvSpPr>
          <p:cNvPr id="22" name="Text 16"/>
          <p:cNvSpPr/>
          <p:nvPr/>
        </p:nvSpPr>
        <p:spPr>
          <a:xfrm>
            <a:off x="960120" y="3986784"/>
            <a:ext cx="3474720" cy="256032"/>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Missed Escalations</a:t>
            </a:r>
            <a:endParaRPr lang="en-US" sz="1200" dirty="0"/>
          </a:p>
        </p:txBody>
      </p:sp>
      <p:sp>
        <p:nvSpPr>
          <p:cNvPr id="23" name="Text 17"/>
          <p:cNvSpPr/>
          <p:nvPr/>
        </p:nvSpPr>
        <p:spPr>
          <a:xfrm>
            <a:off x="960120" y="4233672"/>
            <a:ext cx="3429000" cy="45720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Security or critical tickets may not be flagged in time, increasing resolution risk.</a:t>
            </a:r>
            <a:endParaRPr lang="en-US" sz="950" dirty="0"/>
          </a:p>
        </p:txBody>
      </p:sp>
      <p:sp>
        <p:nvSpPr>
          <p:cNvPr id="24" name="Shape 18"/>
          <p:cNvSpPr/>
          <p:nvPr/>
        </p:nvSpPr>
        <p:spPr>
          <a:xfrm>
            <a:off x="4846320" y="960120"/>
            <a:ext cx="3931920" cy="17373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5" name="Shape 19"/>
          <p:cNvSpPr/>
          <p:nvPr/>
        </p:nvSpPr>
        <p:spPr>
          <a:xfrm>
            <a:off x="4846320" y="960120"/>
            <a:ext cx="64008" cy="1737360"/>
          </a:xfrm>
          <a:prstGeom prst="rect">
            <a:avLst/>
          </a:prstGeom>
          <a:solidFill>
            <a:srgbClr val="00C9B8"/>
          </a:solidFill>
          <a:ln w="12700">
            <a:solidFill>
              <a:srgbClr val="000000"/>
            </a:solidFill>
            <a:prstDash val="solid"/>
          </a:ln>
        </p:spPr>
        <p:txBody>
          <a:bodyPr/>
          <a:lstStyle/>
          <a:p>
            <a:endParaRPr lang="en-AU"/>
          </a:p>
        </p:txBody>
      </p:sp>
      <p:sp>
        <p:nvSpPr>
          <p:cNvPr id="26" name="Text 20"/>
          <p:cNvSpPr/>
          <p:nvPr/>
        </p:nvSpPr>
        <p:spPr>
          <a:xfrm>
            <a:off x="5074920" y="1051560"/>
            <a:ext cx="338328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BUSINESS IMPACT</a:t>
            </a:r>
            <a:endParaRPr lang="en-US" sz="1100" dirty="0"/>
          </a:p>
        </p:txBody>
      </p:sp>
      <p:sp>
        <p:nvSpPr>
          <p:cNvPr id="27" name="Shape 21"/>
          <p:cNvSpPr/>
          <p:nvPr/>
        </p:nvSpPr>
        <p:spPr>
          <a:xfrm>
            <a:off x="5138928" y="1453896"/>
            <a:ext cx="109728" cy="109728"/>
          </a:xfrm>
          <a:prstGeom prst="ellipse">
            <a:avLst/>
          </a:prstGeom>
          <a:solidFill>
            <a:srgbClr val="00C9B8"/>
          </a:solidFill>
          <a:ln w="12700">
            <a:solidFill>
              <a:srgbClr val="000000"/>
            </a:solidFill>
            <a:prstDash val="solid"/>
          </a:ln>
        </p:spPr>
        <p:txBody>
          <a:bodyPr/>
          <a:lstStyle/>
          <a:p>
            <a:endParaRPr lang="en-AU"/>
          </a:p>
        </p:txBody>
      </p:sp>
      <p:sp>
        <p:nvSpPr>
          <p:cNvPr id="28" name="Text 22"/>
          <p:cNvSpPr/>
          <p:nvPr/>
        </p:nvSpPr>
        <p:spPr>
          <a:xfrm>
            <a:off x="5376672" y="1399032"/>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Delayed resolution reduces customer satisfaction</a:t>
            </a:r>
            <a:endParaRPr lang="en-US" sz="1050" dirty="0"/>
          </a:p>
        </p:txBody>
      </p:sp>
      <p:sp>
        <p:nvSpPr>
          <p:cNvPr id="29" name="Shape 23"/>
          <p:cNvSpPr/>
          <p:nvPr/>
        </p:nvSpPr>
        <p:spPr>
          <a:xfrm>
            <a:off x="5138928" y="1801368"/>
            <a:ext cx="109728" cy="109728"/>
          </a:xfrm>
          <a:prstGeom prst="ellipse">
            <a:avLst/>
          </a:prstGeom>
          <a:solidFill>
            <a:srgbClr val="00C9B8"/>
          </a:solidFill>
          <a:ln w="12700">
            <a:solidFill>
              <a:srgbClr val="000000"/>
            </a:solidFill>
            <a:prstDash val="solid"/>
          </a:ln>
        </p:spPr>
        <p:txBody>
          <a:bodyPr/>
          <a:lstStyle/>
          <a:p>
            <a:endParaRPr lang="en-AU"/>
          </a:p>
        </p:txBody>
      </p:sp>
      <p:sp>
        <p:nvSpPr>
          <p:cNvPr id="30" name="Text 24"/>
          <p:cNvSpPr/>
          <p:nvPr/>
        </p:nvSpPr>
        <p:spPr>
          <a:xfrm>
            <a:off x="5376672" y="1746504"/>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Wasted agent time on mis-routed tickets</a:t>
            </a:r>
            <a:endParaRPr lang="en-US" sz="1050" dirty="0"/>
          </a:p>
        </p:txBody>
      </p:sp>
      <p:sp>
        <p:nvSpPr>
          <p:cNvPr id="31" name="Shape 25"/>
          <p:cNvSpPr/>
          <p:nvPr/>
        </p:nvSpPr>
        <p:spPr>
          <a:xfrm>
            <a:off x="5138928" y="2148840"/>
            <a:ext cx="109728" cy="109728"/>
          </a:xfrm>
          <a:prstGeom prst="ellipse">
            <a:avLst/>
          </a:prstGeom>
          <a:solidFill>
            <a:srgbClr val="00C9B8"/>
          </a:solidFill>
          <a:ln w="12700">
            <a:solidFill>
              <a:srgbClr val="000000"/>
            </a:solidFill>
            <a:prstDash val="solid"/>
          </a:ln>
        </p:spPr>
        <p:txBody>
          <a:bodyPr/>
          <a:lstStyle/>
          <a:p>
            <a:endParaRPr lang="en-AU"/>
          </a:p>
        </p:txBody>
      </p:sp>
      <p:sp>
        <p:nvSpPr>
          <p:cNvPr id="32" name="Text 26"/>
          <p:cNvSpPr/>
          <p:nvPr/>
        </p:nvSpPr>
        <p:spPr>
          <a:xfrm>
            <a:off x="5376672" y="2093976"/>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Increased risk of SLA breaches</a:t>
            </a:r>
            <a:endParaRPr lang="en-US" sz="1050" dirty="0"/>
          </a:p>
        </p:txBody>
      </p:sp>
      <p:sp>
        <p:nvSpPr>
          <p:cNvPr id="33" name="Shape 27"/>
          <p:cNvSpPr/>
          <p:nvPr/>
        </p:nvSpPr>
        <p:spPr>
          <a:xfrm>
            <a:off x="4846320" y="2834640"/>
            <a:ext cx="3931920" cy="16916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4" name="Shape 28"/>
          <p:cNvSpPr/>
          <p:nvPr/>
        </p:nvSpPr>
        <p:spPr>
          <a:xfrm>
            <a:off x="4846320" y="2834640"/>
            <a:ext cx="64008" cy="1691640"/>
          </a:xfrm>
          <a:prstGeom prst="rect">
            <a:avLst/>
          </a:prstGeom>
          <a:solidFill>
            <a:srgbClr val="00A896"/>
          </a:solidFill>
          <a:ln w="12700">
            <a:solidFill>
              <a:srgbClr val="000000"/>
            </a:solidFill>
            <a:prstDash val="solid"/>
          </a:ln>
        </p:spPr>
        <p:txBody>
          <a:bodyPr/>
          <a:lstStyle/>
          <a:p>
            <a:endParaRPr lang="en-AU"/>
          </a:p>
        </p:txBody>
      </p:sp>
      <p:sp>
        <p:nvSpPr>
          <p:cNvPr id="35" name="Text 29"/>
          <p:cNvSpPr/>
          <p:nvPr/>
        </p:nvSpPr>
        <p:spPr>
          <a:xfrm>
            <a:off x="5074920" y="2926080"/>
            <a:ext cx="338328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THE OPPORTUNITY</a:t>
            </a:r>
            <a:endParaRPr lang="en-US" sz="1100" dirty="0"/>
          </a:p>
        </p:txBody>
      </p:sp>
      <p:sp>
        <p:nvSpPr>
          <p:cNvPr id="36" name="Shape 30"/>
          <p:cNvSpPr/>
          <p:nvPr/>
        </p:nvSpPr>
        <p:spPr>
          <a:xfrm>
            <a:off x="5138928" y="3310128"/>
            <a:ext cx="109728" cy="109728"/>
          </a:xfrm>
          <a:prstGeom prst="ellipse">
            <a:avLst/>
          </a:prstGeom>
          <a:solidFill>
            <a:srgbClr val="F5C842"/>
          </a:solidFill>
          <a:ln w="12700">
            <a:solidFill>
              <a:srgbClr val="000000"/>
            </a:solidFill>
            <a:prstDash val="solid"/>
          </a:ln>
        </p:spPr>
        <p:txBody>
          <a:bodyPr/>
          <a:lstStyle/>
          <a:p>
            <a:endParaRPr lang="en-AU"/>
          </a:p>
        </p:txBody>
      </p:sp>
      <p:sp>
        <p:nvSpPr>
          <p:cNvPr id="37" name="Text 31"/>
          <p:cNvSpPr/>
          <p:nvPr/>
        </p:nvSpPr>
        <p:spPr>
          <a:xfrm>
            <a:off x="5376672" y="3264408"/>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AI-assisted first-pass routing and priority flagging</a:t>
            </a:r>
            <a:endParaRPr lang="en-US" sz="1050" dirty="0"/>
          </a:p>
        </p:txBody>
      </p:sp>
      <p:sp>
        <p:nvSpPr>
          <p:cNvPr id="38" name="Shape 32"/>
          <p:cNvSpPr/>
          <p:nvPr/>
        </p:nvSpPr>
        <p:spPr>
          <a:xfrm>
            <a:off x="5138928" y="3657600"/>
            <a:ext cx="109728" cy="109728"/>
          </a:xfrm>
          <a:prstGeom prst="ellipse">
            <a:avLst/>
          </a:prstGeom>
          <a:solidFill>
            <a:srgbClr val="F5C842"/>
          </a:solidFill>
          <a:ln w="12700">
            <a:solidFill>
              <a:srgbClr val="000000"/>
            </a:solidFill>
            <a:prstDash val="solid"/>
          </a:ln>
        </p:spPr>
        <p:txBody>
          <a:bodyPr/>
          <a:lstStyle/>
          <a:p>
            <a:endParaRPr lang="en-AU"/>
          </a:p>
        </p:txBody>
      </p:sp>
      <p:sp>
        <p:nvSpPr>
          <p:cNvPr id="39" name="Text 33"/>
          <p:cNvSpPr/>
          <p:nvPr/>
        </p:nvSpPr>
        <p:spPr>
          <a:xfrm>
            <a:off x="5376672" y="3611880"/>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Consistent structured outputs for every ticket</a:t>
            </a:r>
            <a:endParaRPr lang="en-US" sz="1050" dirty="0"/>
          </a:p>
        </p:txBody>
      </p:sp>
      <p:sp>
        <p:nvSpPr>
          <p:cNvPr id="40" name="Shape 34"/>
          <p:cNvSpPr/>
          <p:nvPr/>
        </p:nvSpPr>
        <p:spPr>
          <a:xfrm>
            <a:off x="5138928" y="4005072"/>
            <a:ext cx="109728" cy="109728"/>
          </a:xfrm>
          <a:prstGeom prst="ellipse">
            <a:avLst/>
          </a:prstGeom>
          <a:solidFill>
            <a:srgbClr val="F5C842"/>
          </a:solidFill>
          <a:ln w="12700">
            <a:solidFill>
              <a:srgbClr val="000000"/>
            </a:solidFill>
            <a:prstDash val="solid"/>
          </a:ln>
        </p:spPr>
        <p:txBody>
          <a:bodyPr/>
          <a:lstStyle/>
          <a:p>
            <a:endParaRPr lang="en-AU"/>
          </a:p>
        </p:txBody>
      </p:sp>
      <p:sp>
        <p:nvSpPr>
          <p:cNvPr id="41" name="Text 35"/>
          <p:cNvSpPr/>
          <p:nvPr/>
        </p:nvSpPr>
        <p:spPr>
          <a:xfrm>
            <a:off x="5376672" y="3959352"/>
            <a:ext cx="3200400" cy="329184"/>
          </a:xfrm>
          <a:prstGeom prst="rect">
            <a:avLst/>
          </a:prstGeom>
          <a:noFill/>
          <a:ln/>
        </p:spPr>
        <p:txBody>
          <a:bodyPr wrap="square" lIns="0" tIns="0" rIns="0" bIns="0" rtlCol="0" anchor="ctr"/>
          <a:lstStyle/>
          <a:p>
            <a:pPr marL="0" indent="0">
              <a:buNone/>
            </a:pPr>
            <a:r>
              <a:rPr lang="en-US" sz="1050" dirty="0">
                <a:solidFill>
                  <a:srgbClr val="E8F4F8"/>
                </a:solidFill>
                <a:latin typeface="Trebuchet MS" pitchFamily="34" charset="0"/>
                <a:ea typeface="Trebuchet MS" pitchFamily="34" charset="-122"/>
                <a:cs typeface="Trebuchet MS" pitchFamily="34" charset="-120"/>
              </a:rPr>
              <a:t>Human agents stay in control — AI supports, not replaces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Proposed AI Solution</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8412480" cy="548640"/>
          </a:xfrm>
          <a:prstGeom prst="rect">
            <a:avLst/>
          </a:prstGeom>
          <a:solidFill>
            <a:srgbClr val="1A2F4A"/>
          </a:solidFill>
          <a:ln w="9525">
            <a:solidFill>
              <a:srgbClr val="00C9B8"/>
            </a:solidFill>
            <a:prstDash val="solid"/>
          </a:ln>
        </p:spPr>
        <p:txBody>
          <a:bodyPr/>
          <a:lstStyle/>
          <a:p>
            <a:endParaRPr lang="en-AU"/>
          </a:p>
        </p:txBody>
      </p:sp>
      <p:sp>
        <p:nvSpPr>
          <p:cNvPr id="5" name="Text 3"/>
          <p:cNvSpPr/>
          <p:nvPr/>
        </p:nvSpPr>
        <p:spPr>
          <a:xfrm>
            <a:off x="502920" y="969264"/>
            <a:ext cx="8138160" cy="438912"/>
          </a:xfrm>
          <a:prstGeom prst="rect">
            <a:avLst/>
          </a:prstGeom>
          <a:noFill/>
          <a:ln/>
        </p:spPr>
        <p:txBody>
          <a:bodyPr wrap="square" lIns="0" tIns="0" rIns="0" bIns="0" rtlCol="0" anchor="ctr"/>
          <a:lstStyle/>
          <a:p>
            <a:pPr marL="0" indent="0">
              <a:buNone/>
            </a:pPr>
            <a:r>
              <a:rPr lang="en-US" sz="1200" i="1" dirty="0">
                <a:solidFill>
                  <a:srgbClr val="00C9B8"/>
                </a:solidFill>
                <a:latin typeface="Trebuchet MS" pitchFamily="34" charset="0"/>
                <a:ea typeface="Trebuchet MS" pitchFamily="34" charset="-122"/>
                <a:cs typeface="Trebuchet MS" pitchFamily="34" charset="-120"/>
              </a:rPr>
              <a:t>An AI decision-support system that converts unstructured tickets into structured triage outputs</a:t>
            </a:r>
            <a:endParaRPr lang="en-US" sz="1200" dirty="0"/>
          </a:p>
        </p:txBody>
      </p:sp>
      <p:sp>
        <p:nvSpPr>
          <p:cNvPr id="6" name="Shape 4"/>
          <p:cNvSpPr/>
          <p:nvPr/>
        </p:nvSpPr>
        <p:spPr>
          <a:xfrm>
            <a:off x="365760" y="16916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7" name="Shape 5"/>
          <p:cNvSpPr/>
          <p:nvPr/>
        </p:nvSpPr>
        <p:spPr>
          <a:xfrm>
            <a:off x="365760" y="1691640"/>
            <a:ext cx="64008" cy="1417320"/>
          </a:xfrm>
          <a:prstGeom prst="rect">
            <a:avLst/>
          </a:prstGeom>
          <a:solidFill>
            <a:srgbClr val="00C9B8"/>
          </a:solidFill>
          <a:ln w="12700">
            <a:solidFill>
              <a:srgbClr val="000000"/>
            </a:solidFill>
            <a:prstDash val="solid"/>
          </a:ln>
        </p:spPr>
        <p:txBody>
          <a:bodyPr/>
          <a:lstStyle/>
          <a:p>
            <a:endParaRPr lang="en-AU"/>
          </a:p>
        </p:txBody>
      </p:sp>
      <p:pic>
        <p:nvPicPr>
          <p:cNvPr id="8" name="Image 0" descr="preencoded.png"/>
          <p:cNvPicPr>
            <a:picLocks noChangeAspect="1"/>
          </p:cNvPicPr>
          <p:nvPr/>
        </p:nvPicPr>
        <p:blipFill>
          <a:blip r:embed="rId3"/>
          <a:stretch>
            <a:fillRect/>
          </a:stretch>
        </p:blipFill>
        <p:spPr>
          <a:xfrm>
            <a:off x="530352" y="1965960"/>
            <a:ext cx="411480" cy="411480"/>
          </a:xfrm>
          <a:prstGeom prst="rect">
            <a:avLst/>
          </a:prstGeom>
        </p:spPr>
      </p:pic>
      <p:sp>
        <p:nvSpPr>
          <p:cNvPr id="9" name="Text 6"/>
          <p:cNvSpPr/>
          <p:nvPr/>
        </p:nvSpPr>
        <p:spPr>
          <a:xfrm>
            <a:off x="1024128" y="18745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Queue Prediction</a:t>
            </a:r>
            <a:endParaRPr lang="en-US" sz="1100" dirty="0"/>
          </a:p>
        </p:txBody>
      </p:sp>
      <p:sp>
        <p:nvSpPr>
          <p:cNvPr id="10" name="Text 7"/>
          <p:cNvSpPr/>
          <p:nvPr/>
        </p:nvSpPr>
        <p:spPr>
          <a:xfrm>
            <a:off x="1024128" y="21671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Classifies ticket into the correct support category</a:t>
            </a:r>
            <a:endParaRPr lang="en-US" sz="900" dirty="0"/>
          </a:p>
        </p:txBody>
      </p:sp>
      <p:sp>
        <p:nvSpPr>
          <p:cNvPr id="11" name="Shape 8"/>
          <p:cNvSpPr/>
          <p:nvPr/>
        </p:nvSpPr>
        <p:spPr>
          <a:xfrm>
            <a:off x="3246120" y="16916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2" name="Shape 9"/>
          <p:cNvSpPr/>
          <p:nvPr/>
        </p:nvSpPr>
        <p:spPr>
          <a:xfrm>
            <a:off x="3246120" y="1691640"/>
            <a:ext cx="64008" cy="1417320"/>
          </a:xfrm>
          <a:prstGeom prst="rect">
            <a:avLst/>
          </a:prstGeom>
          <a:solidFill>
            <a:srgbClr val="FF6B6B"/>
          </a:solidFill>
          <a:ln w="12700">
            <a:solidFill>
              <a:srgbClr val="000000"/>
            </a:solidFill>
            <a:prstDash val="solid"/>
          </a:ln>
        </p:spPr>
        <p:txBody>
          <a:bodyPr/>
          <a:lstStyle/>
          <a:p>
            <a:endParaRPr lang="en-AU"/>
          </a:p>
        </p:txBody>
      </p:sp>
      <p:pic>
        <p:nvPicPr>
          <p:cNvPr id="13" name="Image 1" descr="preencoded.png"/>
          <p:cNvPicPr>
            <a:picLocks noChangeAspect="1"/>
          </p:cNvPicPr>
          <p:nvPr/>
        </p:nvPicPr>
        <p:blipFill>
          <a:blip r:embed="rId4"/>
          <a:stretch>
            <a:fillRect/>
          </a:stretch>
        </p:blipFill>
        <p:spPr>
          <a:xfrm>
            <a:off x="3410712" y="1965960"/>
            <a:ext cx="411480" cy="411480"/>
          </a:xfrm>
          <a:prstGeom prst="rect">
            <a:avLst/>
          </a:prstGeom>
        </p:spPr>
      </p:pic>
      <p:sp>
        <p:nvSpPr>
          <p:cNvPr id="14" name="Text 10"/>
          <p:cNvSpPr/>
          <p:nvPr/>
        </p:nvSpPr>
        <p:spPr>
          <a:xfrm>
            <a:off x="3904488" y="18745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Priority Prediction</a:t>
            </a:r>
            <a:endParaRPr lang="en-US" sz="1100" dirty="0"/>
          </a:p>
        </p:txBody>
      </p:sp>
      <p:sp>
        <p:nvSpPr>
          <p:cNvPr id="15" name="Text 11"/>
          <p:cNvSpPr/>
          <p:nvPr/>
        </p:nvSpPr>
        <p:spPr>
          <a:xfrm>
            <a:off x="3904488" y="21671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Estimates ticket urgency level for the support team</a:t>
            </a:r>
            <a:endParaRPr lang="en-US" sz="900" dirty="0"/>
          </a:p>
        </p:txBody>
      </p:sp>
      <p:sp>
        <p:nvSpPr>
          <p:cNvPr id="16" name="Shape 12"/>
          <p:cNvSpPr/>
          <p:nvPr/>
        </p:nvSpPr>
        <p:spPr>
          <a:xfrm>
            <a:off x="6126480" y="16916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7" name="Shape 13"/>
          <p:cNvSpPr/>
          <p:nvPr/>
        </p:nvSpPr>
        <p:spPr>
          <a:xfrm>
            <a:off x="6126480" y="1691640"/>
            <a:ext cx="64008" cy="1417320"/>
          </a:xfrm>
          <a:prstGeom prst="rect">
            <a:avLst/>
          </a:prstGeom>
          <a:solidFill>
            <a:srgbClr val="F5C842"/>
          </a:solidFill>
          <a:ln w="12700">
            <a:solidFill>
              <a:srgbClr val="000000"/>
            </a:solidFill>
            <a:prstDash val="solid"/>
          </a:ln>
        </p:spPr>
        <p:txBody>
          <a:bodyPr/>
          <a:lstStyle/>
          <a:p>
            <a:endParaRPr lang="en-AU"/>
          </a:p>
        </p:txBody>
      </p:sp>
      <p:pic>
        <p:nvPicPr>
          <p:cNvPr id="18" name="Image 2" descr="preencoded.png"/>
          <p:cNvPicPr>
            <a:picLocks noChangeAspect="1"/>
          </p:cNvPicPr>
          <p:nvPr/>
        </p:nvPicPr>
        <p:blipFill>
          <a:blip r:embed="rId5"/>
          <a:stretch>
            <a:fillRect/>
          </a:stretch>
        </p:blipFill>
        <p:spPr>
          <a:xfrm>
            <a:off x="6291072" y="1965960"/>
            <a:ext cx="411480" cy="411480"/>
          </a:xfrm>
          <a:prstGeom prst="rect">
            <a:avLst/>
          </a:prstGeom>
        </p:spPr>
      </p:pic>
      <p:sp>
        <p:nvSpPr>
          <p:cNvPr id="19" name="Text 14"/>
          <p:cNvSpPr/>
          <p:nvPr/>
        </p:nvSpPr>
        <p:spPr>
          <a:xfrm>
            <a:off x="6784848" y="18745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Team Recommendation</a:t>
            </a:r>
            <a:endParaRPr lang="en-US" sz="1100" dirty="0"/>
          </a:p>
        </p:txBody>
      </p:sp>
      <p:sp>
        <p:nvSpPr>
          <p:cNvPr id="20" name="Text 15"/>
          <p:cNvSpPr/>
          <p:nvPr/>
        </p:nvSpPr>
        <p:spPr>
          <a:xfrm>
            <a:off x="6784848" y="21671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Suggests the most appropriate responsible team</a:t>
            </a:r>
            <a:endParaRPr lang="en-US" sz="900" dirty="0"/>
          </a:p>
        </p:txBody>
      </p:sp>
      <p:sp>
        <p:nvSpPr>
          <p:cNvPr id="21" name="Shape 16"/>
          <p:cNvSpPr/>
          <p:nvPr/>
        </p:nvSpPr>
        <p:spPr>
          <a:xfrm>
            <a:off x="365760" y="32918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2" name="Shape 17"/>
          <p:cNvSpPr/>
          <p:nvPr/>
        </p:nvSpPr>
        <p:spPr>
          <a:xfrm>
            <a:off x="365760" y="3291840"/>
            <a:ext cx="64008" cy="1417320"/>
          </a:xfrm>
          <a:prstGeom prst="rect">
            <a:avLst/>
          </a:prstGeom>
          <a:solidFill>
            <a:srgbClr val="E85555"/>
          </a:solidFill>
          <a:ln w="12700">
            <a:solidFill>
              <a:srgbClr val="000000"/>
            </a:solidFill>
            <a:prstDash val="solid"/>
          </a:ln>
        </p:spPr>
        <p:txBody>
          <a:bodyPr/>
          <a:lstStyle/>
          <a:p>
            <a:endParaRPr lang="en-AU"/>
          </a:p>
        </p:txBody>
      </p:sp>
      <p:pic>
        <p:nvPicPr>
          <p:cNvPr id="23" name="Image 3" descr="preencoded.png"/>
          <p:cNvPicPr>
            <a:picLocks noChangeAspect="1"/>
          </p:cNvPicPr>
          <p:nvPr/>
        </p:nvPicPr>
        <p:blipFill>
          <a:blip r:embed="rId6"/>
          <a:stretch>
            <a:fillRect/>
          </a:stretch>
        </p:blipFill>
        <p:spPr>
          <a:xfrm>
            <a:off x="530352" y="3566160"/>
            <a:ext cx="411480" cy="411480"/>
          </a:xfrm>
          <a:prstGeom prst="rect">
            <a:avLst/>
          </a:prstGeom>
        </p:spPr>
      </p:pic>
      <p:sp>
        <p:nvSpPr>
          <p:cNvPr id="24" name="Text 18"/>
          <p:cNvSpPr/>
          <p:nvPr/>
        </p:nvSpPr>
        <p:spPr>
          <a:xfrm>
            <a:off x="1024128" y="34747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Escalation Flagging</a:t>
            </a:r>
            <a:endParaRPr lang="en-US" sz="1100" dirty="0"/>
          </a:p>
        </p:txBody>
      </p:sp>
      <p:sp>
        <p:nvSpPr>
          <p:cNvPr id="25" name="Text 19"/>
          <p:cNvSpPr/>
          <p:nvPr/>
        </p:nvSpPr>
        <p:spPr>
          <a:xfrm>
            <a:off x="1024128" y="37673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Detects urgent, security, or fraud language</a:t>
            </a:r>
            <a:endParaRPr lang="en-US" sz="900" dirty="0"/>
          </a:p>
        </p:txBody>
      </p:sp>
      <p:sp>
        <p:nvSpPr>
          <p:cNvPr id="26" name="Shape 20"/>
          <p:cNvSpPr/>
          <p:nvPr/>
        </p:nvSpPr>
        <p:spPr>
          <a:xfrm>
            <a:off x="3246120" y="32918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7" name="Shape 21"/>
          <p:cNvSpPr/>
          <p:nvPr/>
        </p:nvSpPr>
        <p:spPr>
          <a:xfrm>
            <a:off x="3246120" y="3291840"/>
            <a:ext cx="64008" cy="1417320"/>
          </a:xfrm>
          <a:prstGeom prst="rect">
            <a:avLst/>
          </a:prstGeom>
          <a:solidFill>
            <a:srgbClr val="00A896"/>
          </a:solidFill>
          <a:ln w="12700">
            <a:solidFill>
              <a:srgbClr val="000000"/>
            </a:solidFill>
            <a:prstDash val="solid"/>
          </a:ln>
        </p:spPr>
        <p:txBody>
          <a:bodyPr/>
          <a:lstStyle/>
          <a:p>
            <a:endParaRPr lang="en-AU"/>
          </a:p>
        </p:txBody>
      </p:sp>
      <p:pic>
        <p:nvPicPr>
          <p:cNvPr id="28" name="Image 4" descr="preencoded.png"/>
          <p:cNvPicPr>
            <a:picLocks noChangeAspect="1"/>
          </p:cNvPicPr>
          <p:nvPr/>
        </p:nvPicPr>
        <p:blipFill>
          <a:blip r:embed="rId7"/>
          <a:stretch>
            <a:fillRect/>
          </a:stretch>
        </p:blipFill>
        <p:spPr>
          <a:xfrm>
            <a:off x="3410712" y="3566160"/>
            <a:ext cx="411480" cy="411480"/>
          </a:xfrm>
          <a:prstGeom prst="rect">
            <a:avLst/>
          </a:prstGeom>
        </p:spPr>
      </p:pic>
      <p:sp>
        <p:nvSpPr>
          <p:cNvPr id="29" name="Text 22"/>
          <p:cNvSpPr/>
          <p:nvPr/>
        </p:nvSpPr>
        <p:spPr>
          <a:xfrm>
            <a:off x="3904488" y="34747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Ticket Summary</a:t>
            </a:r>
            <a:endParaRPr lang="en-US" sz="1100" dirty="0"/>
          </a:p>
        </p:txBody>
      </p:sp>
      <p:sp>
        <p:nvSpPr>
          <p:cNvPr id="30" name="Text 23"/>
          <p:cNvSpPr/>
          <p:nvPr/>
        </p:nvSpPr>
        <p:spPr>
          <a:xfrm>
            <a:off x="3904488" y="37673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Template-based summary with privacy masking</a:t>
            </a:r>
            <a:endParaRPr lang="en-US" sz="900" dirty="0"/>
          </a:p>
        </p:txBody>
      </p:sp>
      <p:sp>
        <p:nvSpPr>
          <p:cNvPr id="31" name="Shape 24"/>
          <p:cNvSpPr/>
          <p:nvPr/>
        </p:nvSpPr>
        <p:spPr>
          <a:xfrm>
            <a:off x="6126480" y="3291840"/>
            <a:ext cx="2697480" cy="14173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2" name="Shape 25"/>
          <p:cNvSpPr/>
          <p:nvPr/>
        </p:nvSpPr>
        <p:spPr>
          <a:xfrm>
            <a:off x="6126480" y="3291840"/>
            <a:ext cx="64008" cy="1417320"/>
          </a:xfrm>
          <a:prstGeom prst="rect">
            <a:avLst/>
          </a:prstGeom>
          <a:solidFill>
            <a:srgbClr val="14B8A6"/>
          </a:solidFill>
          <a:ln w="12700">
            <a:solidFill>
              <a:srgbClr val="000000"/>
            </a:solidFill>
            <a:prstDash val="solid"/>
          </a:ln>
        </p:spPr>
        <p:txBody>
          <a:bodyPr/>
          <a:lstStyle/>
          <a:p>
            <a:endParaRPr lang="en-AU"/>
          </a:p>
        </p:txBody>
      </p:sp>
      <p:pic>
        <p:nvPicPr>
          <p:cNvPr id="33" name="Image 5" descr="preencoded.png"/>
          <p:cNvPicPr>
            <a:picLocks noChangeAspect="1"/>
          </p:cNvPicPr>
          <p:nvPr/>
        </p:nvPicPr>
        <p:blipFill>
          <a:blip r:embed="rId8"/>
          <a:stretch>
            <a:fillRect/>
          </a:stretch>
        </p:blipFill>
        <p:spPr>
          <a:xfrm>
            <a:off x="6291072" y="3566160"/>
            <a:ext cx="411480" cy="411480"/>
          </a:xfrm>
          <a:prstGeom prst="rect">
            <a:avLst/>
          </a:prstGeom>
        </p:spPr>
      </p:pic>
      <p:sp>
        <p:nvSpPr>
          <p:cNvPr id="34" name="Text 26"/>
          <p:cNvSpPr/>
          <p:nvPr/>
        </p:nvSpPr>
        <p:spPr>
          <a:xfrm>
            <a:off x="6784848" y="3474720"/>
            <a:ext cx="1920240" cy="292608"/>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Explanation Terms</a:t>
            </a:r>
            <a:endParaRPr lang="en-US" sz="1100" dirty="0"/>
          </a:p>
        </p:txBody>
      </p:sp>
      <p:sp>
        <p:nvSpPr>
          <p:cNvPr id="35" name="Text 27"/>
          <p:cNvSpPr/>
          <p:nvPr/>
        </p:nvSpPr>
        <p:spPr>
          <a:xfrm>
            <a:off x="6784848" y="3767328"/>
            <a:ext cx="1920240" cy="457200"/>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Shows influential words behind each prediction</a:t>
            </a:r>
            <a:endParaRPr lang="en-US" sz="900" dirty="0"/>
          </a:p>
        </p:txBody>
      </p:sp>
      <p:sp>
        <p:nvSpPr>
          <p:cNvPr id="36" name="Shape 28"/>
          <p:cNvSpPr/>
          <p:nvPr/>
        </p:nvSpPr>
        <p:spPr>
          <a:xfrm>
            <a:off x="365760" y="4736592"/>
            <a:ext cx="8412480" cy="292608"/>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7" name="Shape 29"/>
          <p:cNvSpPr/>
          <p:nvPr/>
        </p:nvSpPr>
        <p:spPr>
          <a:xfrm>
            <a:off x="365760" y="4736592"/>
            <a:ext cx="64008" cy="292608"/>
          </a:xfrm>
          <a:prstGeom prst="rect">
            <a:avLst/>
          </a:prstGeom>
          <a:solidFill>
            <a:srgbClr val="FF6B6B"/>
          </a:solidFill>
          <a:ln w="12700">
            <a:solidFill>
              <a:srgbClr val="000000"/>
            </a:solidFill>
            <a:prstDash val="solid"/>
          </a:ln>
        </p:spPr>
        <p:txBody>
          <a:bodyPr/>
          <a:lstStyle/>
          <a:p>
            <a:endParaRPr lang="en-AU"/>
          </a:p>
        </p:txBody>
      </p:sp>
      <p:sp>
        <p:nvSpPr>
          <p:cNvPr id="38" name="Text 30"/>
          <p:cNvSpPr/>
          <p:nvPr/>
        </p:nvSpPr>
        <p:spPr>
          <a:xfrm>
            <a:off x="566928" y="4754880"/>
            <a:ext cx="8046720" cy="256032"/>
          </a:xfrm>
          <a:prstGeom prst="rect">
            <a:avLst/>
          </a:prstGeom>
          <a:noFill/>
          <a:ln/>
        </p:spPr>
        <p:txBody>
          <a:bodyPr wrap="square" lIns="0" tIns="0" rIns="0" bIns="0" rtlCol="0" anchor="ctr"/>
          <a:lstStyle/>
          <a:p>
            <a:pPr marL="0" indent="0">
              <a:buNone/>
            </a:pPr>
            <a:r>
              <a:rPr lang="en-US" sz="950" b="1" dirty="0">
                <a:solidFill>
                  <a:srgbClr val="E8F4F8"/>
                </a:solidFill>
                <a:latin typeface="Trebuchet MS" pitchFamily="34" charset="0"/>
                <a:ea typeface="Trebuchet MS" pitchFamily="34" charset="-122"/>
                <a:cs typeface="Trebuchet MS" pitchFamily="34" charset="-120"/>
              </a:rPr>
              <a:t>Human-in-the-loop design — agents retain final decision-making authority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Dataset and Data Governance</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14400"/>
            <a:ext cx="64008" cy="1051560"/>
          </a:xfrm>
          <a:prstGeom prst="rect">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475488" y="987552"/>
            <a:ext cx="1737360" cy="548640"/>
          </a:xfrm>
          <a:prstGeom prst="rect">
            <a:avLst/>
          </a:prstGeom>
          <a:noFill/>
          <a:ln/>
        </p:spPr>
        <p:txBody>
          <a:bodyPr wrap="square" lIns="0" tIns="0" rIns="0" bIns="0" rtlCol="0" anchor="ctr"/>
          <a:lstStyle/>
          <a:p>
            <a:pPr marL="0" indent="0" algn="ctr">
              <a:buNone/>
            </a:pPr>
            <a:r>
              <a:rPr lang="en-US" sz="2800" b="1" dirty="0">
                <a:solidFill>
                  <a:srgbClr val="00C9B8"/>
                </a:solidFill>
                <a:latin typeface="Trebuchet MS" pitchFamily="34" charset="0"/>
                <a:ea typeface="Trebuchet MS" pitchFamily="34" charset="-122"/>
                <a:cs typeface="Trebuchet MS" pitchFamily="34" charset="-120"/>
              </a:rPr>
              <a:t>52,587</a:t>
            </a:r>
            <a:endParaRPr lang="en-US" sz="2800" dirty="0"/>
          </a:p>
        </p:txBody>
      </p:sp>
      <p:sp>
        <p:nvSpPr>
          <p:cNvPr id="7" name="Text 5"/>
          <p:cNvSpPr/>
          <p:nvPr/>
        </p:nvSpPr>
        <p:spPr>
          <a:xfrm>
            <a:off x="45720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Raw compatible rows</a:t>
            </a:r>
            <a:endParaRPr lang="en-US" sz="900" dirty="0"/>
          </a:p>
        </p:txBody>
      </p:sp>
      <p:sp>
        <p:nvSpPr>
          <p:cNvPr id="8" name="Shape 6"/>
          <p:cNvSpPr/>
          <p:nvPr/>
        </p:nvSpPr>
        <p:spPr>
          <a:xfrm>
            <a:off x="251460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9" name="Shape 7"/>
          <p:cNvSpPr/>
          <p:nvPr/>
        </p:nvSpPr>
        <p:spPr>
          <a:xfrm>
            <a:off x="2514600" y="914400"/>
            <a:ext cx="64008" cy="1051560"/>
          </a:xfrm>
          <a:prstGeom prst="rect">
            <a:avLst/>
          </a:prstGeom>
          <a:solidFill>
            <a:srgbClr val="FF6B6B"/>
          </a:solidFill>
          <a:ln w="12700">
            <a:solidFill>
              <a:srgbClr val="000000"/>
            </a:solidFill>
            <a:prstDash val="solid"/>
          </a:ln>
        </p:spPr>
        <p:txBody>
          <a:bodyPr/>
          <a:lstStyle/>
          <a:p>
            <a:endParaRPr lang="en-AU"/>
          </a:p>
        </p:txBody>
      </p:sp>
      <p:sp>
        <p:nvSpPr>
          <p:cNvPr id="10" name="Text 8"/>
          <p:cNvSpPr/>
          <p:nvPr/>
        </p:nvSpPr>
        <p:spPr>
          <a:xfrm>
            <a:off x="2624328" y="987552"/>
            <a:ext cx="1737360" cy="548640"/>
          </a:xfrm>
          <a:prstGeom prst="rect">
            <a:avLst/>
          </a:prstGeom>
          <a:noFill/>
          <a:ln/>
        </p:spPr>
        <p:txBody>
          <a:bodyPr wrap="square" lIns="0" tIns="0" rIns="0" bIns="0" rtlCol="0" anchor="ctr"/>
          <a:lstStyle/>
          <a:p>
            <a:pPr marL="0" indent="0" algn="ctr">
              <a:buNone/>
            </a:pPr>
            <a:r>
              <a:rPr lang="en-US" sz="2800" b="1" dirty="0">
                <a:solidFill>
                  <a:srgbClr val="FF6B6B"/>
                </a:solidFill>
                <a:latin typeface="Trebuchet MS" pitchFamily="34" charset="0"/>
                <a:ea typeface="Trebuchet MS" pitchFamily="34" charset="-122"/>
                <a:cs typeface="Trebuchet MS" pitchFamily="34" charset="-120"/>
              </a:rPr>
              <a:t>8,309</a:t>
            </a:r>
            <a:endParaRPr lang="en-US" sz="2800" dirty="0"/>
          </a:p>
        </p:txBody>
      </p:sp>
      <p:sp>
        <p:nvSpPr>
          <p:cNvPr id="11" name="Text 9"/>
          <p:cNvSpPr/>
          <p:nvPr/>
        </p:nvSpPr>
        <p:spPr>
          <a:xfrm>
            <a:off x="260604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Duplicates removed</a:t>
            </a:r>
            <a:endParaRPr lang="en-US" sz="900" dirty="0"/>
          </a:p>
        </p:txBody>
      </p:sp>
      <p:sp>
        <p:nvSpPr>
          <p:cNvPr id="12" name="Shape 10"/>
          <p:cNvSpPr/>
          <p:nvPr/>
        </p:nvSpPr>
        <p:spPr>
          <a:xfrm>
            <a:off x="466344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3" name="Shape 11"/>
          <p:cNvSpPr/>
          <p:nvPr/>
        </p:nvSpPr>
        <p:spPr>
          <a:xfrm>
            <a:off x="4663440" y="914400"/>
            <a:ext cx="64008" cy="1051560"/>
          </a:xfrm>
          <a:prstGeom prst="rect">
            <a:avLst/>
          </a:prstGeom>
          <a:solidFill>
            <a:srgbClr val="F5C842"/>
          </a:solidFill>
          <a:ln w="12700">
            <a:solidFill>
              <a:srgbClr val="000000"/>
            </a:solidFill>
            <a:prstDash val="solid"/>
          </a:ln>
        </p:spPr>
        <p:txBody>
          <a:bodyPr/>
          <a:lstStyle/>
          <a:p>
            <a:endParaRPr lang="en-AU"/>
          </a:p>
        </p:txBody>
      </p:sp>
      <p:sp>
        <p:nvSpPr>
          <p:cNvPr id="14" name="Text 12"/>
          <p:cNvSpPr/>
          <p:nvPr/>
        </p:nvSpPr>
        <p:spPr>
          <a:xfrm>
            <a:off x="4773168" y="987552"/>
            <a:ext cx="1737360" cy="548640"/>
          </a:xfrm>
          <a:prstGeom prst="rect">
            <a:avLst/>
          </a:prstGeom>
          <a:noFill/>
          <a:ln/>
        </p:spPr>
        <p:txBody>
          <a:bodyPr wrap="square" lIns="0" tIns="0" rIns="0" bIns="0" rtlCol="0" anchor="ctr"/>
          <a:lstStyle/>
          <a:p>
            <a:pPr marL="0" indent="0" algn="ctr">
              <a:buNone/>
            </a:pPr>
            <a:r>
              <a:rPr lang="en-US" sz="2800" b="1" dirty="0">
                <a:solidFill>
                  <a:srgbClr val="F5C842"/>
                </a:solidFill>
                <a:latin typeface="Trebuchet MS" pitchFamily="34" charset="0"/>
                <a:ea typeface="Trebuchet MS" pitchFamily="34" charset="-122"/>
                <a:cs typeface="Trebuchet MS" pitchFamily="34" charset="-120"/>
              </a:rPr>
              <a:t>44,275</a:t>
            </a:r>
            <a:endParaRPr lang="en-US" sz="2800" dirty="0"/>
          </a:p>
        </p:txBody>
      </p:sp>
      <p:sp>
        <p:nvSpPr>
          <p:cNvPr id="15" name="Text 13"/>
          <p:cNvSpPr/>
          <p:nvPr/>
        </p:nvSpPr>
        <p:spPr>
          <a:xfrm>
            <a:off x="475488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Final modelling rows</a:t>
            </a:r>
            <a:endParaRPr lang="en-US" sz="900" dirty="0"/>
          </a:p>
        </p:txBody>
      </p:sp>
      <p:sp>
        <p:nvSpPr>
          <p:cNvPr id="16" name="Shape 14"/>
          <p:cNvSpPr/>
          <p:nvPr/>
        </p:nvSpPr>
        <p:spPr>
          <a:xfrm>
            <a:off x="6812280" y="914400"/>
            <a:ext cx="1965960" cy="10515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7" name="Shape 15"/>
          <p:cNvSpPr/>
          <p:nvPr/>
        </p:nvSpPr>
        <p:spPr>
          <a:xfrm>
            <a:off x="6812280" y="914400"/>
            <a:ext cx="64008" cy="1051560"/>
          </a:xfrm>
          <a:prstGeom prst="rect">
            <a:avLst/>
          </a:prstGeom>
          <a:solidFill>
            <a:srgbClr val="14B8A6"/>
          </a:solidFill>
          <a:ln w="12700">
            <a:solidFill>
              <a:srgbClr val="000000"/>
            </a:solidFill>
            <a:prstDash val="solid"/>
          </a:ln>
        </p:spPr>
        <p:txBody>
          <a:bodyPr/>
          <a:lstStyle/>
          <a:p>
            <a:endParaRPr lang="en-AU"/>
          </a:p>
        </p:txBody>
      </p:sp>
      <p:sp>
        <p:nvSpPr>
          <p:cNvPr id="18" name="Text 16"/>
          <p:cNvSpPr/>
          <p:nvPr/>
        </p:nvSpPr>
        <p:spPr>
          <a:xfrm>
            <a:off x="6922008" y="987552"/>
            <a:ext cx="1737360" cy="548640"/>
          </a:xfrm>
          <a:prstGeom prst="rect">
            <a:avLst/>
          </a:prstGeom>
          <a:noFill/>
          <a:ln/>
        </p:spPr>
        <p:txBody>
          <a:bodyPr wrap="square" lIns="0" tIns="0" rIns="0" bIns="0" rtlCol="0" anchor="ctr"/>
          <a:lstStyle/>
          <a:p>
            <a:pPr marL="0" indent="0" algn="ctr">
              <a:buNone/>
            </a:pPr>
            <a:r>
              <a:rPr lang="en-US" sz="2800" b="1" dirty="0">
                <a:solidFill>
                  <a:srgbClr val="14B8A6"/>
                </a:solidFill>
                <a:latin typeface="Trebuchet MS" pitchFamily="34" charset="0"/>
                <a:ea typeface="Trebuchet MS" pitchFamily="34" charset="-122"/>
                <a:cs typeface="Trebuchet MS" pitchFamily="34" charset="-120"/>
              </a:rPr>
              <a:t>5</a:t>
            </a:r>
            <a:endParaRPr lang="en-US" sz="2800" dirty="0"/>
          </a:p>
        </p:txBody>
      </p:sp>
      <p:sp>
        <p:nvSpPr>
          <p:cNvPr id="19" name="Text 17"/>
          <p:cNvSpPr/>
          <p:nvPr/>
        </p:nvSpPr>
        <p:spPr>
          <a:xfrm>
            <a:off x="6903720" y="1508760"/>
            <a:ext cx="1783080" cy="320040"/>
          </a:xfrm>
          <a:prstGeom prst="rect">
            <a:avLst/>
          </a:prstGeom>
          <a:noFill/>
          <a:ln/>
        </p:spPr>
        <p:txBody>
          <a:bodyPr wrap="square" lIns="0" tIns="0" rIns="0" bIns="0" rtlCol="0" anchor="ctr"/>
          <a:lstStyle/>
          <a:p>
            <a:pPr marL="0" indent="0" algn="ctr">
              <a:buNone/>
            </a:pPr>
            <a:r>
              <a:rPr lang="en-US" sz="900" dirty="0">
                <a:solidFill>
                  <a:srgbClr val="A8C4D8"/>
                </a:solidFill>
                <a:latin typeface="Trebuchet MS" pitchFamily="34" charset="0"/>
                <a:ea typeface="Trebuchet MS" pitchFamily="34" charset="-122"/>
                <a:cs typeface="Trebuchet MS" pitchFamily="34" charset="-120"/>
              </a:rPr>
              <a:t>Languages</a:t>
            </a:r>
            <a:endParaRPr lang="en-US" sz="900" dirty="0"/>
          </a:p>
        </p:txBody>
      </p:sp>
      <p:sp>
        <p:nvSpPr>
          <p:cNvPr id="20" name="Shape 18"/>
          <p:cNvSpPr/>
          <p:nvPr/>
        </p:nvSpPr>
        <p:spPr>
          <a:xfrm>
            <a:off x="365760" y="2148840"/>
            <a:ext cx="4160520" cy="26060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1" name="Shape 19"/>
          <p:cNvSpPr/>
          <p:nvPr/>
        </p:nvSpPr>
        <p:spPr>
          <a:xfrm>
            <a:off x="365760" y="2148840"/>
            <a:ext cx="64008" cy="2606040"/>
          </a:xfrm>
          <a:prstGeom prst="rect">
            <a:avLst/>
          </a:prstGeom>
          <a:solidFill>
            <a:srgbClr val="00C9B8"/>
          </a:solidFill>
          <a:ln w="12700">
            <a:solidFill>
              <a:srgbClr val="000000"/>
            </a:solidFill>
            <a:prstDash val="solid"/>
          </a:ln>
        </p:spPr>
        <p:txBody>
          <a:bodyPr/>
          <a:lstStyle/>
          <a:p>
            <a:endParaRPr lang="en-AU"/>
          </a:p>
        </p:txBody>
      </p:sp>
      <p:sp>
        <p:nvSpPr>
          <p:cNvPr id="22" name="Text 20"/>
          <p:cNvSpPr/>
          <p:nvPr/>
        </p:nvSpPr>
        <p:spPr>
          <a:xfrm>
            <a:off x="566928" y="224028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DATA AUDIT PIPELINE</a:t>
            </a:r>
            <a:endParaRPr lang="en-US" sz="1100" dirty="0"/>
          </a:p>
        </p:txBody>
      </p:sp>
      <p:sp>
        <p:nvSpPr>
          <p:cNvPr id="23" name="Text 21"/>
          <p:cNvSpPr/>
          <p:nvPr/>
        </p:nvSpPr>
        <p:spPr>
          <a:xfrm>
            <a:off x="502920" y="2670048"/>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a:t>
            </a:r>
            <a:endParaRPr lang="en-US" sz="1000" dirty="0"/>
          </a:p>
        </p:txBody>
      </p:sp>
      <p:sp>
        <p:nvSpPr>
          <p:cNvPr id="24" name="Text 22"/>
          <p:cNvSpPr/>
          <p:nvPr/>
        </p:nvSpPr>
        <p:spPr>
          <a:xfrm>
            <a:off x="850392" y="2697480"/>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Audited all 5 Kaggle CSV files for schema compatibility</a:t>
            </a:r>
            <a:endParaRPr lang="en-US" sz="950" dirty="0"/>
          </a:p>
        </p:txBody>
      </p:sp>
      <p:sp>
        <p:nvSpPr>
          <p:cNvPr id="25" name="Text 23"/>
          <p:cNvSpPr/>
          <p:nvPr/>
        </p:nvSpPr>
        <p:spPr>
          <a:xfrm>
            <a:off x="502920" y="3072384"/>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2</a:t>
            </a:r>
            <a:endParaRPr lang="en-US" sz="1000" dirty="0"/>
          </a:p>
        </p:txBody>
      </p:sp>
      <p:sp>
        <p:nvSpPr>
          <p:cNvPr id="26" name="Text 24"/>
          <p:cNvSpPr/>
          <p:nvPr/>
        </p:nvSpPr>
        <p:spPr>
          <a:xfrm>
            <a:off x="850392" y="3099816"/>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Merged 3 compatible multilingual files (EN, DE, ES, FR, PT)</a:t>
            </a:r>
            <a:endParaRPr lang="en-US" sz="950" dirty="0"/>
          </a:p>
        </p:txBody>
      </p:sp>
      <p:sp>
        <p:nvSpPr>
          <p:cNvPr id="27" name="Text 25"/>
          <p:cNvSpPr/>
          <p:nvPr/>
        </p:nvSpPr>
        <p:spPr>
          <a:xfrm>
            <a:off x="502920" y="3474720"/>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3</a:t>
            </a:r>
            <a:endParaRPr lang="en-US" sz="1000" dirty="0"/>
          </a:p>
        </p:txBody>
      </p:sp>
      <p:sp>
        <p:nvSpPr>
          <p:cNvPr id="28" name="Text 26"/>
          <p:cNvSpPr/>
          <p:nvPr/>
        </p:nvSpPr>
        <p:spPr>
          <a:xfrm>
            <a:off x="850392" y="3502152"/>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Excluded 2 German-normalised files — different label taxonomy</a:t>
            </a:r>
            <a:endParaRPr lang="en-US" sz="950" dirty="0"/>
          </a:p>
        </p:txBody>
      </p:sp>
      <p:sp>
        <p:nvSpPr>
          <p:cNvPr id="29" name="Text 27"/>
          <p:cNvSpPr/>
          <p:nvPr/>
        </p:nvSpPr>
        <p:spPr>
          <a:xfrm>
            <a:off x="502920" y="3877056"/>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4</a:t>
            </a:r>
            <a:endParaRPr lang="en-US" sz="1000" dirty="0"/>
          </a:p>
        </p:txBody>
      </p:sp>
      <p:sp>
        <p:nvSpPr>
          <p:cNvPr id="30" name="Text 28"/>
          <p:cNvSpPr/>
          <p:nvPr/>
        </p:nvSpPr>
        <p:spPr>
          <a:xfrm>
            <a:off x="850392" y="3904488"/>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Removed 8,309 duplicate rows from merged dataset</a:t>
            </a:r>
            <a:endParaRPr lang="en-US" sz="950" dirty="0"/>
          </a:p>
        </p:txBody>
      </p:sp>
      <p:sp>
        <p:nvSpPr>
          <p:cNvPr id="31" name="Text 29"/>
          <p:cNvSpPr/>
          <p:nvPr/>
        </p:nvSpPr>
        <p:spPr>
          <a:xfrm>
            <a:off x="502920" y="4279392"/>
            <a:ext cx="256032" cy="256032"/>
          </a:xfrm>
          <a:prstGeom prst="rect">
            <a:avLst/>
          </a:prstGeom>
          <a:solidFill>
            <a:srgbClr val="00C9B8"/>
          </a:solidFill>
          <a:ln/>
        </p:spPr>
        <p:txBody>
          <a:bodyPr wrap="square" lIns="0" tIns="0" rIns="0" bIns="0"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5</a:t>
            </a:r>
            <a:endParaRPr lang="en-US" sz="1000" dirty="0"/>
          </a:p>
        </p:txBody>
      </p:sp>
      <p:sp>
        <p:nvSpPr>
          <p:cNvPr id="32" name="Text 30"/>
          <p:cNvSpPr/>
          <p:nvPr/>
        </p:nvSpPr>
        <p:spPr>
          <a:xfrm>
            <a:off x="850392" y="4306824"/>
            <a:ext cx="3520440"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Combined subject + body into unified ticket text field</a:t>
            </a:r>
            <a:endParaRPr lang="en-US" sz="950" dirty="0"/>
          </a:p>
        </p:txBody>
      </p:sp>
      <p:sp>
        <p:nvSpPr>
          <p:cNvPr id="33" name="Shape 31"/>
          <p:cNvSpPr/>
          <p:nvPr/>
        </p:nvSpPr>
        <p:spPr>
          <a:xfrm>
            <a:off x="4754880" y="2148840"/>
            <a:ext cx="4023360" cy="11887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4" name="Shape 32"/>
          <p:cNvSpPr/>
          <p:nvPr/>
        </p:nvSpPr>
        <p:spPr>
          <a:xfrm>
            <a:off x="4754880" y="2148840"/>
            <a:ext cx="64008" cy="1188720"/>
          </a:xfrm>
          <a:prstGeom prst="rect">
            <a:avLst/>
          </a:prstGeom>
          <a:solidFill>
            <a:srgbClr val="14B8A6"/>
          </a:solidFill>
          <a:ln w="12700">
            <a:solidFill>
              <a:srgbClr val="000000"/>
            </a:solidFill>
            <a:prstDash val="solid"/>
          </a:ln>
        </p:spPr>
        <p:txBody>
          <a:bodyPr/>
          <a:lstStyle/>
          <a:p>
            <a:endParaRPr lang="en-AU"/>
          </a:p>
        </p:txBody>
      </p:sp>
      <p:sp>
        <p:nvSpPr>
          <p:cNvPr id="35" name="Text 33"/>
          <p:cNvSpPr/>
          <p:nvPr/>
        </p:nvSpPr>
        <p:spPr>
          <a:xfrm>
            <a:off x="4956048" y="224028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TARGET VARIABLES</a:t>
            </a:r>
            <a:endParaRPr lang="en-US" sz="1100" dirty="0"/>
          </a:p>
        </p:txBody>
      </p:sp>
      <p:sp>
        <p:nvSpPr>
          <p:cNvPr id="36" name="Shape 34"/>
          <p:cNvSpPr/>
          <p:nvPr/>
        </p:nvSpPr>
        <p:spPr>
          <a:xfrm>
            <a:off x="4956048" y="2624328"/>
            <a:ext cx="594360" cy="219456"/>
          </a:xfrm>
          <a:prstGeom prst="rect">
            <a:avLst/>
          </a:prstGeom>
          <a:solidFill>
            <a:srgbClr val="14B8A6"/>
          </a:solidFill>
          <a:ln w="12700">
            <a:solidFill>
              <a:srgbClr val="000000"/>
            </a:solidFill>
            <a:prstDash val="solid"/>
          </a:ln>
        </p:spPr>
        <p:txBody>
          <a:bodyPr/>
          <a:lstStyle/>
          <a:p>
            <a:endParaRPr lang="en-AU"/>
          </a:p>
        </p:txBody>
      </p:sp>
      <p:sp>
        <p:nvSpPr>
          <p:cNvPr id="37" name="Text 35"/>
          <p:cNvSpPr/>
          <p:nvPr/>
        </p:nvSpPr>
        <p:spPr>
          <a:xfrm>
            <a:off x="4983480" y="2642616"/>
            <a:ext cx="548640" cy="182880"/>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queue</a:t>
            </a:r>
            <a:endParaRPr lang="en-US" sz="850" dirty="0"/>
          </a:p>
        </p:txBody>
      </p:sp>
      <p:sp>
        <p:nvSpPr>
          <p:cNvPr id="38" name="Text 36"/>
          <p:cNvSpPr/>
          <p:nvPr/>
        </p:nvSpPr>
        <p:spPr>
          <a:xfrm>
            <a:off x="5650992" y="2651760"/>
            <a:ext cx="2926080" cy="20116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Support category/queue prediction</a:t>
            </a:r>
            <a:endParaRPr lang="en-US" sz="900" dirty="0"/>
          </a:p>
        </p:txBody>
      </p:sp>
      <p:sp>
        <p:nvSpPr>
          <p:cNvPr id="39" name="Shape 37"/>
          <p:cNvSpPr/>
          <p:nvPr/>
        </p:nvSpPr>
        <p:spPr>
          <a:xfrm>
            <a:off x="4956048" y="2944368"/>
            <a:ext cx="594360" cy="219456"/>
          </a:xfrm>
          <a:prstGeom prst="rect">
            <a:avLst/>
          </a:prstGeom>
          <a:solidFill>
            <a:srgbClr val="14B8A6"/>
          </a:solidFill>
          <a:ln w="12700">
            <a:solidFill>
              <a:srgbClr val="000000"/>
            </a:solidFill>
            <a:prstDash val="solid"/>
          </a:ln>
        </p:spPr>
        <p:txBody>
          <a:bodyPr/>
          <a:lstStyle/>
          <a:p>
            <a:endParaRPr lang="en-AU"/>
          </a:p>
        </p:txBody>
      </p:sp>
      <p:sp>
        <p:nvSpPr>
          <p:cNvPr id="40" name="Text 38"/>
          <p:cNvSpPr/>
          <p:nvPr/>
        </p:nvSpPr>
        <p:spPr>
          <a:xfrm>
            <a:off x="4983480" y="2962656"/>
            <a:ext cx="548640" cy="182880"/>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priority</a:t>
            </a:r>
            <a:endParaRPr lang="en-US" sz="850" dirty="0"/>
          </a:p>
        </p:txBody>
      </p:sp>
      <p:sp>
        <p:nvSpPr>
          <p:cNvPr id="41" name="Text 39"/>
          <p:cNvSpPr/>
          <p:nvPr/>
        </p:nvSpPr>
        <p:spPr>
          <a:xfrm>
            <a:off x="5650992" y="2971800"/>
            <a:ext cx="2926080" cy="20116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Ticket urgency prediction</a:t>
            </a:r>
            <a:endParaRPr lang="en-US" sz="900" dirty="0"/>
          </a:p>
        </p:txBody>
      </p:sp>
      <p:sp>
        <p:nvSpPr>
          <p:cNvPr id="42" name="Shape 40"/>
          <p:cNvSpPr/>
          <p:nvPr/>
        </p:nvSpPr>
        <p:spPr>
          <a:xfrm>
            <a:off x="4754880" y="3474720"/>
            <a:ext cx="402336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3" name="Shape 41"/>
          <p:cNvSpPr/>
          <p:nvPr/>
        </p:nvSpPr>
        <p:spPr>
          <a:xfrm>
            <a:off x="4754880" y="3474720"/>
            <a:ext cx="64008" cy="1280160"/>
          </a:xfrm>
          <a:prstGeom prst="rect">
            <a:avLst/>
          </a:prstGeom>
          <a:solidFill>
            <a:srgbClr val="FF6B6B"/>
          </a:solidFill>
          <a:ln w="12700">
            <a:solidFill>
              <a:srgbClr val="000000"/>
            </a:solidFill>
            <a:prstDash val="solid"/>
          </a:ln>
        </p:spPr>
        <p:txBody>
          <a:bodyPr/>
          <a:lstStyle/>
          <a:p>
            <a:endParaRPr lang="en-AU"/>
          </a:p>
        </p:txBody>
      </p:sp>
      <p:sp>
        <p:nvSpPr>
          <p:cNvPr id="44" name="Text 42"/>
          <p:cNvSpPr/>
          <p:nvPr/>
        </p:nvSpPr>
        <p:spPr>
          <a:xfrm>
            <a:off x="4956048" y="356616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GOVERNANCE DECISIONS</a:t>
            </a:r>
            <a:endParaRPr lang="en-US" sz="1100" dirty="0"/>
          </a:p>
        </p:txBody>
      </p:sp>
      <p:sp>
        <p:nvSpPr>
          <p:cNvPr id="45" name="Shape 43"/>
          <p:cNvSpPr/>
          <p:nvPr/>
        </p:nvSpPr>
        <p:spPr>
          <a:xfrm>
            <a:off x="5010912" y="3968496"/>
            <a:ext cx="109728" cy="109728"/>
          </a:xfrm>
          <a:prstGeom prst="ellipse">
            <a:avLst/>
          </a:prstGeom>
          <a:solidFill>
            <a:srgbClr val="00C9B8"/>
          </a:solidFill>
          <a:ln w="12700">
            <a:solidFill>
              <a:srgbClr val="000000"/>
            </a:solidFill>
            <a:prstDash val="solid"/>
          </a:ln>
        </p:spPr>
        <p:txBody>
          <a:bodyPr/>
          <a:lstStyle/>
          <a:p>
            <a:endParaRPr lang="en-AU"/>
          </a:p>
        </p:txBody>
      </p:sp>
      <p:sp>
        <p:nvSpPr>
          <p:cNvPr id="46" name="Text 44"/>
          <p:cNvSpPr/>
          <p:nvPr/>
        </p:nvSpPr>
        <p:spPr>
          <a:xfrm>
            <a:off x="5230368" y="3922776"/>
            <a:ext cx="3364992"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Inputs: subject, body, safe metadata (type, language, tags)</a:t>
            </a:r>
            <a:endParaRPr lang="en-US" sz="950" dirty="0"/>
          </a:p>
        </p:txBody>
      </p:sp>
      <p:sp>
        <p:nvSpPr>
          <p:cNvPr id="47" name="Shape 45"/>
          <p:cNvSpPr/>
          <p:nvPr/>
        </p:nvSpPr>
        <p:spPr>
          <a:xfrm>
            <a:off x="5010912" y="4334256"/>
            <a:ext cx="109728" cy="109728"/>
          </a:xfrm>
          <a:prstGeom prst="ellipse">
            <a:avLst/>
          </a:prstGeom>
          <a:solidFill>
            <a:srgbClr val="FF6B6B"/>
          </a:solidFill>
          <a:ln w="12700">
            <a:solidFill>
              <a:srgbClr val="000000"/>
            </a:solidFill>
            <a:prstDash val="solid"/>
          </a:ln>
        </p:spPr>
        <p:txBody>
          <a:bodyPr/>
          <a:lstStyle/>
          <a:p>
            <a:endParaRPr lang="en-AU"/>
          </a:p>
        </p:txBody>
      </p:sp>
      <p:sp>
        <p:nvSpPr>
          <p:cNvPr id="48" name="Text 46"/>
          <p:cNvSpPr/>
          <p:nvPr/>
        </p:nvSpPr>
        <p:spPr>
          <a:xfrm>
            <a:off x="5230368" y="4288536"/>
            <a:ext cx="3364992" cy="32004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answer field excluded — written post-response → target leakage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AI Method and Theoretical Justification</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5" name="Text 3"/>
          <p:cNvSpPr/>
          <p:nvPr/>
        </p:nvSpPr>
        <p:spPr>
          <a:xfrm>
            <a:off x="41148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Supervised NLP Classification</a:t>
            </a:r>
            <a:endParaRPr lang="en-US" sz="850" dirty="0"/>
          </a:p>
        </p:txBody>
      </p:sp>
      <p:sp>
        <p:nvSpPr>
          <p:cNvPr id="6" name="Shape 4"/>
          <p:cNvSpPr/>
          <p:nvPr/>
        </p:nvSpPr>
        <p:spPr>
          <a:xfrm>
            <a:off x="256032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7" name="Text 5"/>
          <p:cNvSpPr/>
          <p:nvPr/>
        </p:nvSpPr>
        <p:spPr>
          <a:xfrm>
            <a:off x="260604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Rule-Based Reasoning</a:t>
            </a:r>
            <a:endParaRPr lang="en-US" sz="850" dirty="0"/>
          </a:p>
        </p:txBody>
      </p:sp>
      <p:sp>
        <p:nvSpPr>
          <p:cNvPr id="8" name="Shape 6"/>
          <p:cNvSpPr/>
          <p:nvPr/>
        </p:nvSpPr>
        <p:spPr>
          <a:xfrm>
            <a:off x="475488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9" name="Text 7"/>
          <p:cNvSpPr/>
          <p:nvPr/>
        </p:nvSpPr>
        <p:spPr>
          <a:xfrm>
            <a:off x="480060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Explainable AI</a:t>
            </a:r>
            <a:endParaRPr lang="en-US" sz="850" dirty="0"/>
          </a:p>
        </p:txBody>
      </p:sp>
      <p:sp>
        <p:nvSpPr>
          <p:cNvPr id="10" name="Shape 8"/>
          <p:cNvSpPr/>
          <p:nvPr/>
        </p:nvSpPr>
        <p:spPr>
          <a:xfrm>
            <a:off x="6949440" y="914400"/>
            <a:ext cx="2011680" cy="320040"/>
          </a:xfrm>
          <a:prstGeom prst="rect">
            <a:avLst/>
          </a:prstGeom>
          <a:solidFill>
            <a:srgbClr val="1A2F4A"/>
          </a:solidFill>
          <a:ln w="7620">
            <a:solidFill>
              <a:srgbClr val="00C9B8"/>
            </a:solidFill>
            <a:prstDash val="solid"/>
          </a:ln>
        </p:spPr>
        <p:txBody>
          <a:bodyPr/>
          <a:lstStyle/>
          <a:p>
            <a:endParaRPr lang="en-AU"/>
          </a:p>
        </p:txBody>
      </p:sp>
      <p:sp>
        <p:nvSpPr>
          <p:cNvPr id="11" name="Text 9"/>
          <p:cNvSpPr/>
          <p:nvPr/>
        </p:nvSpPr>
        <p:spPr>
          <a:xfrm>
            <a:off x="6995160" y="932688"/>
            <a:ext cx="1920240" cy="274320"/>
          </a:xfrm>
          <a:prstGeom prst="rect">
            <a:avLst/>
          </a:prstGeom>
          <a:noFill/>
          <a:ln/>
        </p:spPr>
        <p:txBody>
          <a:bodyPr wrap="square" lIns="0" tIns="0" rIns="0" bIns="0" rtlCol="0" anchor="ctr"/>
          <a:lstStyle/>
          <a:p>
            <a:pPr marL="0" indent="0" algn="ctr">
              <a:buNone/>
            </a:pPr>
            <a:r>
              <a:rPr lang="en-US" sz="850" b="1" dirty="0">
                <a:solidFill>
                  <a:srgbClr val="00C9B8"/>
                </a:solidFill>
                <a:latin typeface="Trebuchet MS" pitchFamily="34" charset="0"/>
                <a:ea typeface="Trebuchet MS" pitchFamily="34" charset="-122"/>
                <a:cs typeface="Trebuchet MS" pitchFamily="34" charset="-120"/>
              </a:rPr>
              <a:t>Template-Based Summarisation</a:t>
            </a:r>
            <a:endParaRPr lang="en-US" sz="850" dirty="0"/>
          </a:p>
        </p:txBody>
      </p:sp>
      <p:sp>
        <p:nvSpPr>
          <p:cNvPr id="12" name="Shape 10"/>
          <p:cNvSpPr/>
          <p:nvPr/>
        </p:nvSpPr>
        <p:spPr>
          <a:xfrm>
            <a:off x="365760" y="1417320"/>
            <a:ext cx="4206240" cy="2011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3" name="Shape 11"/>
          <p:cNvSpPr/>
          <p:nvPr/>
        </p:nvSpPr>
        <p:spPr>
          <a:xfrm>
            <a:off x="365760" y="1417320"/>
            <a:ext cx="64008" cy="2011680"/>
          </a:xfrm>
          <a:prstGeom prst="rect">
            <a:avLst/>
          </a:prstGeom>
          <a:solidFill>
            <a:srgbClr val="00C9B8"/>
          </a:solidFill>
          <a:ln w="12700">
            <a:solidFill>
              <a:srgbClr val="000000"/>
            </a:solidFill>
            <a:prstDash val="solid"/>
          </a:ln>
        </p:spPr>
        <p:txBody>
          <a:bodyPr/>
          <a:lstStyle/>
          <a:p>
            <a:endParaRPr lang="en-AU"/>
          </a:p>
        </p:txBody>
      </p:sp>
      <p:sp>
        <p:nvSpPr>
          <p:cNvPr id="14" name="Text 12"/>
          <p:cNvSpPr/>
          <p:nvPr/>
        </p:nvSpPr>
        <p:spPr>
          <a:xfrm>
            <a:off x="566928" y="150876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FEATURE ENGINEERING &amp; MODELS</a:t>
            </a:r>
            <a:endParaRPr lang="en-US" sz="1100" dirty="0"/>
          </a:p>
        </p:txBody>
      </p:sp>
      <p:sp>
        <p:nvSpPr>
          <p:cNvPr id="15" name="Text 13"/>
          <p:cNvSpPr/>
          <p:nvPr/>
        </p:nvSpPr>
        <p:spPr>
          <a:xfrm>
            <a:off x="566928" y="1874520"/>
            <a:ext cx="3749040" cy="256032"/>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TF-IDF Text Vectorisation</a:t>
            </a:r>
            <a:endParaRPr lang="en-US" sz="1100" dirty="0"/>
          </a:p>
        </p:txBody>
      </p:sp>
      <p:sp>
        <p:nvSpPr>
          <p:cNvPr id="16" name="Text 14"/>
          <p:cNvSpPr/>
          <p:nvPr/>
        </p:nvSpPr>
        <p:spPr>
          <a:xfrm>
            <a:off x="566928" y="2130552"/>
            <a:ext cx="3749040" cy="3657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Converts ticket text into weighted numerical features. Effective for short support text with distinct vocabulary.</a:t>
            </a:r>
            <a:endParaRPr lang="en-US" sz="950" dirty="0"/>
          </a:p>
        </p:txBody>
      </p:sp>
      <p:sp>
        <p:nvSpPr>
          <p:cNvPr id="17" name="Shape 15"/>
          <p:cNvSpPr/>
          <p:nvPr/>
        </p:nvSpPr>
        <p:spPr>
          <a:xfrm>
            <a:off x="566928" y="2578608"/>
            <a:ext cx="3749040" cy="237744"/>
          </a:xfrm>
          <a:prstGeom prst="rect">
            <a:avLst/>
          </a:prstGeom>
          <a:solidFill>
            <a:srgbClr val="1E3A5F"/>
          </a:solidFill>
          <a:ln w="12700">
            <a:solidFill>
              <a:srgbClr val="000000"/>
            </a:solidFill>
            <a:prstDash val="solid"/>
          </a:ln>
        </p:spPr>
        <p:txBody>
          <a:bodyPr/>
          <a:lstStyle/>
          <a:p>
            <a:endParaRPr lang="en-AU"/>
          </a:p>
        </p:txBody>
      </p:sp>
      <p:sp>
        <p:nvSpPr>
          <p:cNvPr id="18" name="Text 16"/>
          <p:cNvSpPr/>
          <p:nvPr/>
        </p:nvSpPr>
        <p:spPr>
          <a:xfrm>
            <a:off x="658368" y="2606040"/>
            <a:ext cx="3566160" cy="18288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Logistic Regression  ·  baseline</a:t>
            </a:r>
            <a:endParaRPr lang="en-US" sz="950" dirty="0"/>
          </a:p>
        </p:txBody>
      </p:sp>
      <p:sp>
        <p:nvSpPr>
          <p:cNvPr id="19" name="Shape 17"/>
          <p:cNvSpPr/>
          <p:nvPr/>
        </p:nvSpPr>
        <p:spPr>
          <a:xfrm>
            <a:off x="566928" y="2852928"/>
            <a:ext cx="3749040" cy="237744"/>
          </a:xfrm>
          <a:prstGeom prst="rect">
            <a:avLst/>
          </a:prstGeom>
          <a:solidFill>
            <a:srgbClr val="1E3A5F"/>
          </a:solidFill>
          <a:ln w="12700">
            <a:solidFill>
              <a:srgbClr val="000000"/>
            </a:solidFill>
            <a:prstDash val="solid"/>
          </a:ln>
        </p:spPr>
        <p:txBody>
          <a:bodyPr/>
          <a:lstStyle/>
          <a:p>
            <a:endParaRPr lang="en-AU"/>
          </a:p>
        </p:txBody>
      </p:sp>
      <p:sp>
        <p:nvSpPr>
          <p:cNvPr id="20" name="Text 18"/>
          <p:cNvSpPr/>
          <p:nvPr/>
        </p:nvSpPr>
        <p:spPr>
          <a:xfrm>
            <a:off x="658368" y="2880360"/>
            <a:ext cx="3566160" cy="182880"/>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Naive Bayes  ·  fast, probabilistic</a:t>
            </a:r>
            <a:endParaRPr lang="en-US" sz="950" dirty="0"/>
          </a:p>
        </p:txBody>
      </p:sp>
      <p:sp>
        <p:nvSpPr>
          <p:cNvPr id="21" name="Shape 19"/>
          <p:cNvSpPr/>
          <p:nvPr/>
        </p:nvSpPr>
        <p:spPr>
          <a:xfrm>
            <a:off x="566928" y="3127248"/>
            <a:ext cx="3749040" cy="237744"/>
          </a:xfrm>
          <a:prstGeom prst="rect">
            <a:avLst/>
          </a:prstGeom>
          <a:solidFill>
            <a:srgbClr val="00C9B8"/>
          </a:solidFill>
          <a:ln w="12700">
            <a:solidFill>
              <a:srgbClr val="000000"/>
            </a:solidFill>
            <a:prstDash val="solid"/>
          </a:ln>
        </p:spPr>
        <p:txBody>
          <a:bodyPr/>
          <a:lstStyle/>
          <a:p>
            <a:endParaRPr lang="en-AU"/>
          </a:p>
        </p:txBody>
      </p:sp>
      <p:sp>
        <p:nvSpPr>
          <p:cNvPr id="22" name="Text 20"/>
          <p:cNvSpPr/>
          <p:nvPr/>
        </p:nvSpPr>
        <p:spPr>
          <a:xfrm>
            <a:off x="658368" y="3154680"/>
            <a:ext cx="3566160" cy="182880"/>
          </a:xfrm>
          <a:prstGeom prst="rect">
            <a:avLst/>
          </a:prstGeom>
          <a:noFill/>
          <a:ln/>
        </p:spPr>
        <p:txBody>
          <a:bodyPr wrap="square" lIns="0" tIns="0" rIns="0" bIns="0" rtlCol="0" anchor="ctr"/>
          <a:lstStyle/>
          <a:p>
            <a:pPr marL="0" indent="0">
              <a:buNone/>
            </a:pPr>
            <a:r>
              <a:rPr lang="en-US" sz="950" b="1" dirty="0">
                <a:solidFill>
                  <a:srgbClr val="0D1B2A"/>
                </a:solidFill>
                <a:latin typeface="Trebuchet MS" pitchFamily="34" charset="0"/>
                <a:ea typeface="Trebuchet MS" pitchFamily="34" charset="-122"/>
                <a:cs typeface="Trebuchet MS" pitchFamily="34" charset="-120"/>
              </a:rPr>
              <a:t>Linear SVM ✓  ·  selected — best macro F1</a:t>
            </a:r>
            <a:endParaRPr lang="en-US" sz="950" dirty="0"/>
          </a:p>
        </p:txBody>
      </p:sp>
      <p:sp>
        <p:nvSpPr>
          <p:cNvPr id="23" name="Shape 21"/>
          <p:cNvSpPr/>
          <p:nvPr/>
        </p:nvSpPr>
        <p:spPr>
          <a:xfrm>
            <a:off x="4754880" y="1417320"/>
            <a:ext cx="4023360" cy="201168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4" name="Shape 22"/>
          <p:cNvSpPr/>
          <p:nvPr/>
        </p:nvSpPr>
        <p:spPr>
          <a:xfrm>
            <a:off x="4754880" y="1417320"/>
            <a:ext cx="64008" cy="2011680"/>
          </a:xfrm>
          <a:prstGeom prst="rect">
            <a:avLst/>
          </a:prstGeom>
          <a:solidFill>
            <a:srgbClr val="14B8A6"/>
          </a:solidFill>
          <a:ln w="12700">
            <a:solidFill>
              <a:srgbClr val="000000"/>
            </a:solidFill>
            <a:prstDash val="solid"/>
          </a:ln>
        </p:spPr>
        <p:txBody>
          <a:bodyPr/>
          <a:lstStyle/>
          <a:p>
            <a:endParaRPr lang="en-AU"/>
          </a:p>
        </p:txBody>
      </p:sp>
      <p:sp>
        <p:nvSpPr>
          <p:cNvPr id="25" name="Text 23"/>
          <p:cNvSpPr/>
          <p:nvPr/>
        </p:nvSpPr>
        <p:spPr>
          <a:xfrm>
            <a:off x="4956048" y="150876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WHY LINEAR SVM?</a:t>
            </a:r>
            <a:endParaRPr lang="en-US" sz="1100" dirty="0"/>
          </a:p>
        </p:txBody>
      </p:sp>
      <p:sp>
        <p:nvSpPr>
          <p:cNvPr id="26" name="Shape 24"/>
          <p:cNvSpPr/>
          <p:nvPr/>
        </p:nvSpPr>
        <p:spPr>
          <a:xfrm>
            <a:off x="5010912" y="1993392"/>
            <a:ext cx="109728" cy="109728"/>
          </a:xfrm>
          <a:prstGeom prst="ellipse">
            <a:avLst/>
          </a:prstGeom>
          <a:solidFill>
            <a:srgbClr val="14B8A6"/>
          </a:solidFill>
          <a:ln w="12700">
            <a:solidFill>
              <a:srgbClr val="000000"/>
            </a:solidFill>
            <a:prstDash val="solid"/>
          </a:ln>
        </p:spPr>
        <p:txBody>
          <a:bodyPr/>
          <a:lstStyle/>
          <a:p>
            <a:endParaRPr lang="en-AU"/>
          </a:p>
        </p:txBody>
      </p:sp>
      <p:sp>
        <p:nvSpPr>
          <p:cNvPr id="27" name="Text 25"/>
          <p:cNvSpPr/>
          <p:nvPr/>
        </p:nvSpPr>
        <p:spPr>
          <a:xfrm>
            <a:off x="5230368" y="1938528"/>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Handles high-dimensional TF-IDF feature spaces efficiently</a:t>
            </a:r>
            <a:endParaRPr lang="en-US" sz="1000" dirty="0"/>
          </a:p>
        </p:txBody>
      </p:sp>
      <p:sp>
        <p:nvSpPr>
          <p:cNvPr id="28" name="Shape 26"/>
          <p:cNvSpPr/>
          <p:nvPr/>
        </p:nvSpPr>
        <p:spPr>
          <a:xfrm>
            <a:off x="5010912" y="2340864"/>
            <a:ext cx="109728" cy="109728"/>
          </a:xfrm>
          <a:prstGeom prst="ellipse">
            <a:avLst/>
          </a:prstGeom>
          <a:solidFill>
            <a:srgbClr val="14B8A6"/>
          </a:solidFill>
          <a:ln w="12700">
            <a:solidFill>
              <a:srgbClr val="000000"/>
            </a:solidFill>
            <a:prstDash val="solid"/>
          </a:ln>
        </p:spPr>
        <p:txBody>
          <a:bodyPr/>
          <a:lstStyle/>
          <a:p>
            <a:endParaRPr lang="en-AU"/>
          </a:p>
        </p:txBody>
      </p:sp>
      <p:sp>
        <p:nvSpPr>
          <p:cNvPr id="29" name="Text 27"/>
          <p:cNvSpPr/>
          <p:nvPr/>
        </p:nvSpPr>
        <p:spPr>
          <a:xfrm>
            <a:off x="5230368" y="2286000"/>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Well-suited to sparse text vectors</a:t>
            </a:r>
            <a:endParaRPr lang="en-US" sz="1000" dirty="0"/>
          </a:p>
        </p:txBody>
      </p:sp>
      <p:sp>
        <p:nvSpPr>
          <p:cNvPr id="30" name="Shape 28"/>
          <p:cNvSpPr/>
          <p:nvPr/>
        </p:nvSpPr>
        <p:spPr>
          <a:xfrm>
            <a:off x="5010912" y="2688336"/>
            <a:ext cx="109728" cy="109728"/>
          </a:xfrm>
          <a:prstGeom prst="ellipse">
            <a:avLst/>
          </a:prstGeom>
          <a:solidFill>
            <a:srgbClr val="14B8A6"/>
          </a:solidFill>
          <a:ln w="12700">
            <a:solidFill>
              <a:srgbClr val="000000"/>
            </a:solidFill>
            <a:prstDash val="solid"/>
          </a:ln>
        </p:spPr>
        <p:txBody>
          <a:bodyPr/>
          <a:lstStyle/>
          <a:p>
            <a:endParaRPr lang="en-AU"/>
          </a:p>
        </p:txBody>
      </p:sp>
      <p:sp>
        <p:nvSpPr>
          <p:cNvPr id="31" name="Text 29"/>
          <p:cNvSpPr/>
          <p:nvPr/>
        </p:nvSpPr>
        <p:spPr>
          <a:xfrm>
            <a:off x="5230368" y="2633472"/>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Achieved strongest validation macro F1 across comparisons</a:t>
            </a:r>
            <a:endParaRPr lang="en-US" sz="1000" dirty="0"/>
          </a:p>
        </p:txBody>
      </p:sp>
      <p:sp>
        <p:nvSpPr>
          <p:cNvPr id="32" name="Shape 30"/>
          <p:cNvSpPr/>
          <p:nvPr/>
        </p:nvSpPr>
        <p:spPr>
          <a:xfrm>
            <a:off x="5010912" y="3035808"/>
            <a:ext cx="109728" cy="109728"/>
          </a:xfrm>
          <a:prstGeom prst="ellipse">
            <a:avLst/>
          </a:prstGeom>
          <a:solidFill>
            <a:srgbClr val="14B8A6"/>
          </a:solidFill>
          <a:ln w="12700">
            <a:solidFill>
              <a:srgbClr val="000000"/>
            </a:solidFill>
            <a:prstDash val="solid"/>
          </a:ln>
        </p:spPr>
        <p:txBody>
          <a:bodyPr/>
          <a:lstStyle/>
          <a:p>
            <a:endParaRPr lang="en-AU"/>
          </a:p>
        </p:txBody>
      </p:sp>
      <p:sp>
        <p:nvSpPr>
          <p:cNvPr id="33" name="Text 31"/>
          <p:cNvSpPr/>
          <p:nvPr/>
        </p:nvSpPr>
        <p:spPr>
          <a:xfrm>
            <a:off x="5230368" y="2980944"/>
            <a:ext cx="3337560" cy="320040"/>
          </a:xfrm>
          <a:prstGeom prst="rect">
            <a:avLst/>
          </a:prstGeom>
          <a:noFill/>
          <a:ln/>
        </p:spPr>
        <p:txBody>
          <a:bodyPr wrap="square" lIns="0" tIns="0" rIns="0" bIns="0" rtlCol="0" anchor="ctr"/>
          <a:lstStyle/>
          <a:p>
            <a:pPr marL="0" indent="0">
              <a:buNone/>
            </a:pPr>
            <a:r>
              <a:rPr lang="en-US" sz="1000" dirty="0">
                <a:solidFill>
                  <a:srgbClr val="E8F4F8"/>
                </a:solidFill>
                <a:latin typeface="Trebuchet MS" pitchFamily="34" charset="0"/>
                <a:ea typeface="Trebuchet MS" pitchFamily="34" charset="-122"/>
                <a:cs typeface="Trebuchet MS" pitchFamily="34" charset="-120"/>
              </a:rPr>
              <a:t>More interpretable than deep black-box alternatives</a:t>
            </a:r>
            <a:endParaRPr lang="en-US" sz="1000" dirty="0"/>
          </a:p>
        </p:txBody>
      </p:sp>
      <p:sp>
        <p:nvSpPr>
          <p:cNvPr id="34" name="Shape 32"/>
          <p:cNvSpPr/>
          <p:nvPr/>
        </p:nvSpPr>
        <p:spPr>
          <a:xfrm>
            <a:off x="365760" y="3611880"/>
            <a:ext cx="278892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5" name="Shape 33"/>
          <p:cNvSpPr/>
          <p:nvPr/>
        </p:nvSpPr>
        <p:spPr>
          <a:xfrm>
            <a:off x="365760" y="3611880"/>
            <a:ext cx="64008" cy="1280160"/>
          </a:xfrm>
          <a:prstGeom prst="rect">
            <a:avLst/>
          </a:prstGeom>
          <a:solidFill>
            <a:srgbClr val="00C9B8"/>
          </a:solidFill>
          <a:ln w="12700">
            <a:solidFill>
              <a:srgbClr val="000000"/>
            </a:solidFill>
            <a:prstDash val="solid"/>
          </a:ln>
        </p:spPr>
        <p:txBody>
          <a:bodyPr/>
          <a:lstStyle/>
          <a:p>
            <a:endParaRPr lang="en-AU"/>
          </a:p>
        </p:txBody>
      </p:sp>
      <p:sp>
        <p:nvSpPr>
          <p:cNvPr id="36" name="Text 34"/>
          <p:cNvSpPr/>
          <p:nvPr/>
        </p:nvSpPr>
        <p:spPr>
          <a:xfrm>
            <a:off x="548640" y="3703320"/>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Routing Rules</a:t>
            </a:r>
            <a:endParaRPr lang="en-US" sz="1100" dirty="0"/>
          </a:p>
        </p:txBody>
      </p:sp>
      <p:sp>
        <p:nvSpPr>
          <p:cNvPr id="37" name="Text 35"/>
          <p:cNvSpPr/>
          <p:nvPr/>
        </p:nvSpPr>
        <p:spPr>
          <a:xfrm>
            <a:off x="548640" y="4005072"/>
            <a:ext cx="2468880" cy="5943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Keyword-matching maps predicted queue to responsible team</a:t>
            </a:r>
            <a:endParaRPr lang="en-US" sz="950" dirty="0"/>
          </a:p>
        </p:txBody>
      </p:sp>
      <p:sp>
        <p:nvSpPr>
          <p:cNvPr id="38" name="Shape 36"/>
          <p:cNvSpPr/>
          <p:nvPr/>
        </p:nvSpPr>
        <p:spPr>
          <a:xfrm>
            <a:off x="3355848" y="3611880"/>
            <a:ext cx="278892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9" name="Shape 37"/>
          <p:cNvSpPr/>
          <p:nvPr/>
        </p:nvSpPr>
        <p:spPr>
          <a:xfrm>
            <a:off x="3355848" y="3611880"/>
            <a:ext cx="64008" cy="1280160"/>
          </a:xfrm>
          <a:prstGeom prst="rect">
            <a:avLst/>
          </a:prstGeom>
          <a:solidFill>
            <a:srgbClr val="FF6B6B"/>
          </a:solidFill>
          <a:ln w="12700">
            <a:solidFill>
              <a:srgbClr val="000000"/>
            </a:solidFill>
            <a:prstDash val="solid"/>
          </a:ln>
        </p:spPr>
        <p:txBody>
          <a:bodyPr/>
          <a:lstStyle/>
          <a:p>
            <a:endParaRPr lang="en-AU"/>
          </a:p>
        </p:txBody>
      </p:sp>
      <p:sp>
        <p:nvSpPr>
          <p:cNvPr id="40" name="Text 38"/>
          <p:cNvSpPr/>
          <p:nvPr/>
        </p:nvSpPr>
        <p:spPr>
          <a:xfrm>
            <a:off x="3538728" y="3703320"/>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Escalation Rules</a:t>
            </a:r>
            <a:endParaRPr lang="en-US" sz="1100" dirty="0"/>
          </a:p>
        </p:txBody>
      </p:sp>
      <p:sp>
        <p:nvSpPr>
          <p:cNvPr id="41" name="Text 39"/>
          <p:cNvSpPr/>
          <p:nvPr/>
        </p:nvSpPr>
        <p:spPr>
          <a:xfrm>
            <a:off x="3538728" y="4005072"/>
            <a:ext cx="2468880" cy="5943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Flags urgent, fraud, security, or critical language</a:t>
            </a:r>
            <a:endParaRPr lang="en-US" sz="950" dirty="0"/>
          </a:p>
        </p:txBody>
      </p:sp>
      <p:sp>
        <p:nvSpPr>
          <p:cNvPr id="42" name="Shape 40"/>
          <p:cNvSpPr/>
          <p:nvPr/>
        </p:nvSpPr>
        <p:spPr>
          <a:xfrm>
            <a:off x="6345936" y="3611880"/>
            <a:ext cx="2788920" cy="12801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3" name="Shape 41"/>
          <p:cNvSpPr/>
          <p:nvPr/>
        </p:nvSpPr>
        <p:spPr>
          <a:xfrm>
            <a:off x="6345936" y="3611880"/>
            <a:ext cx="64008" cy="1280160"/>
          </a:xfrm>
          <a:prstGeom prst="rect">
            <a:avLst/>
          </a:prstGeom>
          <a:solidFill>
            <a:srgbClr val="F5C842"/>
          </a:solidFill>
          <a:ln w="12700">
            <a:solidFill>
              <a:srgbClr val="000000"/>
            </a:solidFill>
            <a:prstDash val="solid"/>
          </a:ln>
        </p:spPr>
        <p:txBody>
          <a:bodyPr/>
          <a:lstStyle/>
          <a:p>
            <a:endParaRPr lang="en-AU"/>
          </a:p>
        </p:txBody>
      </p:sp>
      <p:sp>
        <p:nvSpPr>
          <p:cNvPr id="44" name="Text 42"/>
          <p:cNvSpPr/>
          <p:nvPr/>
        </p:nvSpPr>
        <p:spPr>
          <a:xfrm>
            <a:off x="6528816" y="3703320"/>
            <a:ext cx="2468880" cy="27432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Explanation Terms</a:t>
            </a:r>
            <a:endParaRPr lang="en-US" sz="1100" dirty="0"/>
          </a:p>
        </p:txBody>
      </p:sp>
      <p:sp>
        <p:nvSpPr>
          <p:cNvPr id="45" name="Text 43"/>
          <p:cNvSpPr/>
          <p:nvPr/>
        </p:nvSpPr>
        <p:spPr>
          <a:xfrm>
            <a:off x="6528816" y="4005072"/>
            <a:ext cx="2468880" cy="594360"/>
          </a:xfrm>
          <a:prstGeom prst="rect">
            <a:avLst/>
          </a:prstGeom>
          <a:noFill/>
          <a:ln/>
        </p:spPr>
        <p:txBody>
          <a:bodyPr wrap="square" lIns="0" tIns="0" rIns="0" bIns="0" rtlCol="0" anchor="ctr"/>
          <a:lstStyle/>
          <a:p>
            <a:pPr marL="0" indent="0">
              <a:buNone/>
            </a:pPr>
            <a:r>
              <a:rPr lang="en-US" sz="950" dirty="0">
                <a:solidFill>
                  <a:srgbClr val="A8C4D8"/>
                </a:solidFill>
                <a:latin typeface="Trebuchet MS" pitchFamily="34" charset="0"/>
                <a:ea typeface="Trebuchet MS" pitchFamily="34" charset="-122"/>
                <a:cs typeface="Trebuchet MS" pitchFamily="34" charset="-120"/>
              </a:rPr>
              <a:t>Top influential TF-IDF terms shown per prediction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Findings and Empirical Results</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14400"/>
            <a:ext cx="64008" cy="1005840"/>
          </a:xfrm>
          <a:prstGeom prst="rect">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457200" y="969264"/>
            <a:ext cx="1783080" cy="502920"/>
          </a:xfrm>
          <a:prstGeom prst="rect">
            <a:avLst/>
          </a:prstGeom>
          <a:noFill/>
          <a:ln/>
        </p:spPr>
        <p:txBody>
          <a:bodyPr wrap="square" lIns="0" tIns="0" rIns="0" bIns="0" rtlCol="0" anchor="ctr"/>
          <a:lstStyle/>
          <a:p>
            <a:pPr marL="0" indent="0" algn="ctr">
              <a:buNone/>
            </a:pPr>
            <a:r>
              <a:rPr lang="en-US" sz="3000" b="1" dirty="0">
                <a:solidFill>
                  <a:srgbClr val="00C9B8"/>
                </a:solidFill>
                <a:latin typeface="Trebuchet MS" pitchFamily="34" charset="0"/>
                <a:ea typeface="Trebuchet MS" pitchFamily="34" charset="-122"/>
                <a:cs typeface="Trebuchet MS" pitchFamily="34" charset="-120"/>
              </a:rPr>
              <a:t>0.525</a:t>
            </a:r>
            <a:endParaRPr lang="en-US" sz="3000" dirty="0"/>
          </a:p>
        </p:txBody>
      </p:sp>
      <p:sp>
        <p:nvSpPr>
          <p:cNvPr id="7" name="Text 5"/>
          <p:cNvSpPr/>
          <p:nvPr/>
        </p:nvSpPr>
        <p:spPr>
          <a:xfrm>
            <a:off x="43891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Queue Macro F1</a:t>
            </a:r>
            <a:endParaRPr lang="en-US" sz="850" dirty="0"/>
          </a:p>
        </p:txBody>
      </p:sp>
      <p:sp>
        <p:nvSpPr>
          <p:cNvPr id="8" name="Text 6"/>
          <p:cNvSpPr/>
          <p:nvPr/>
        </p:nvSpPr>
        <p:spPr>
          <a:xfrm>
            <a:off x="43891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Linear SVM · held-out test</a:t>
            </a:r>
            <a:endParaRPr lang="en-US" sz="750" dirty="0"/>
          </a:p>
        </p:txBody>
      </p:sp>
      <p:sp>
        <p:nvSpPr>
          <p:cNvPr id="9" name="Shape 7"/>
          <p:cNvSpPr/>
          <p:nvPr/>
        </p:nvSpPr>
        <p:spPr>
          <a:xfrm>
            <a:off x="251460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0" name="Shape 8"/>
          <p:cNvSpPr/>
          <p:nvPr/>
        </p:nvSpPr>
        <p:spPr>
          <a:xfrm>
            <a:off x="2514600" y="914400"/>
            <a:ext cx="64008" cy="1005840"/>
          </a:xfrm>
          <a:prstGeom prst="rect">
            <a:avLst/>
          </a:prstGeom>
          <a:solidFill>
            <a:srgbClr val="14B8A6"/>
          </a:solidFill>
          <a:ln w="12700">
            <a:solidFill>
              <a:srgbClr val="000000"/>
            </a:solidFill>
            <a:prstDash val="solid"/>
          </a:ln>
        </p:spPr>
        <p:txBody>
          <a:bodyPr/>
          <a:lstStyle/>
          <a:p>
            <a:endParaRPr lang="en-AU"/>
          </a:p>
        </p:txBody>
      </p:sp>
      <p:sp>
        <p:nvSpPr>
          <p:cNvPr id="11" name="Text 9"/>
          <p:cNvSpPr/>
          <p:nvPr/>
        </p:nvSpPr>
        <p:spPr>
          <a:xfrm>
            <a:off x="2606040" y="969264"/>
            <a:ext cx="1783080" cy="502920"/>
          </a:xfrm>
          <a:prstGeom prst="rect">
            <a:avLst/>
          </a:prstGeom>
          <a:noFill/>
          <a:ln/>
        </p:spPr>
        <p:txBody>
          <a:bodyPr wrap="square" lIns="0" tIns="0" rIns="0" bIns="0" rtlCol="0" anchor="ctr"/>
          <a:lstStyle/>
          <a:p>
            <a:pPr marL="0" indent="0" algn="ctr">
              <a:buNone/>
            </a:pPr>
            <a:r>
              <a:rPr lang="en-US" sz="3000" b="1" dirty="0">
                <a:solidFill>
                  <a:srgbClr val="14B8A6"/>
                </a:solidFill>
                <a:latin typeface="Trebuchet MS" pitchFamily="34" charset="0"/>
                <a:ea typeface="Trebuchet MS" pitchFamily="34" charset="-122"/>
                <a:cs typeface="Trebuchet MS" pitchFamily="34" charset="-120"/>
              </a:rPr>
              <a:t>0.568</a:t>
            </a:r>
            <a:endParaRPr lang="en-US" sz="3000" dirty="0"/>
          </a:p>
        </p:txBody>
      </p:sp>
      <p:sp>
        <p:nvSpPr>
          <p:cNvPr id="12" name="Text 10"/>
          <p:cNvSpPr/>
          <p:nvPr/>
        </p:nvSpPr>
        <p:spPr>
          <a:xfrm>
            <a:off x="258775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Priority Macro F1</a:t>
            </a:r>
            <a:endParaRPr lang="en-US" sz="850" dirty="0"/>
          </a:p>
        </p:txBody>
      </p:sp>
      <p:sp>
        <p:nvSpPr>
          <p:cNvPr id="13" name="Text 11"/>
          <p:cNvSpPr/>
          <p:nvPr/>
        </p:nvSpPr>
        <p:spPr>
          <a:xfrm>
            <a:off x="258775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Linear SVM · held-out test</a:t>
            </a:r>
            <a:endParaRPr lang="en-US" sz="750" dirty="0"/>
          </a:p>
        </p:txBody>
      </p:sp>
      <p:sp>
        <p:nvSpPr>
          <p:cNvPr id="14" name="Shape 12"/>
          <p:cNvSpPr/>
          <p:nvPr/>
        </p:nvSpPr>
        <p:spPr>
          <a:xfrm>
            <a:off x="466344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15" name="Shape 13"/>
          <p:cNvSpPr/>
          <p:nvPr/>
        </p:nvSpPr>
        <p:spPr>
          <a:xfrm>
            <a:off x="4663440" y="914400"/>
            <a:ext cx="64008" cy="1005840"/>
          </a:xfrm>
          <a:prstGeom prst="rect">
            <a:avLst/>
          </a:prstGeom>
          <a:solidFill>
            <a:srgbClr val="F5C842"/>
          </a:solidFill>
          <a:ln w="12700">
            <a:solidFill>
              <a:srgbClr val="000000"/>
            </a:solidFill>
            <a:prstDash val="solid"/>
          </a:ln>
        </p:spPr>
        <p:txBody>
          <a:bodyPr/>
          <a:lstStyle/>
          <a:p>
            <a:endParaRPr lang="en-AU"/>
          </a:p>
        </p:txBody>
      </p:sp>
      <p:sp>
        <p:nvSpPr>
          <p:cNvPr id="16" name="Text 14"/>
          <p:cNvSpPr/>
          <p:nvPr/>
        </p:nvSpPr>
        <p:spPr>
          <a:xfrm>
            <a:off x="4754880" y="969264"/>
            <a:ext cx="1783080" cy="502920"/>
          </a:xfrm>
          <a:prstGeom prst="rect">
            <a:avLst/>
          </a:prstGeom>
          <a:noFill/>
          <a:ln/>
        </p:spPr>
        <p:txBody>
          <a:bodyPr wrap="square" lIns="0" tIns="0" rIns="0" bIns="0" rtlCol="0" anchor="ctr"/>
          <a:lstStyle/>
          <a:p>
            <a:pPr marL="0" indent="0" algn="ctr">
              <a:buNone/>
            </a:pPr>
            <a:r>
              <a:rPr lang="en-US" sz="3000" b="1" dirty="0">
                <a:solidFill>
                  <a:srgbClr val="F5C842"/>
                </a:solidFill>
                <a:latin typeface="Trebuchet MS" pitchFamily="34" charset="0"/>
                <a:ea typeface="Trebuchet MS" pitchFamily="34" charset="-122"/>
                <a:cs typeface="Trebuchet MS" pitchFamily="34" charset="-120"/>
              </a:rPr>
              <a:t>0.779</a:t>
            </a:r>
            <a:endParaRPr lang="en-US" sz="3000" dirty="0"/>
          </a:p>
        </p:txBody>
      </p:sp>
      <p:sp>
        <p:nvSpPr>
          <p:cNvPr id="17" name="Text 15"/>
          <p:cNvSpPr/>
          <p:nvPr/>
        </p:nvSpPr>
        <p:spPr>
          <a:xfrm>
            <a:off x="473659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Billing &amp; Payments</a:t>
            </a:r>
            <a:endParaRPr lang="en-US" sz="850" dirty="0"/>
          </a:p>
        </p:txBody>
      </p:sp>
      <p:sp>
        <p:nvSpPr>
          <p:cNvPr id="18" name="Text 16"/>
          <p:cNvSpPr/>
          <p:nvPr/>
        </p:nvSpPr>
        <p:spPr>
          <a:xfrm>
            <a:off x="473659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Strongest category F1</a:t>
            </a:r>
            <a:endParaRPr lang="en-US" sz="750" dirty="0"/>
          </a:p>
        </p:txBody>
      </p:sp>
      <p:sp>
        <p:nvSpPr>
          <p:cNvPr id="19" name="Shape 17"/>
          <p:cNvSpPr/>
          <p:nvPr/>
        </p:nvSpPr>
        <p:spPr>
          <a:xfrm>
            <a:off x="6812280" y="914400"/>
            <a:ext cx="1965960" cy="10058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0" name="Shape 18"/>
          <p:cNvSpPr/>
          <p:nvPr/>
        </p:nvSpPr>
        <p:spPr>
          <a:xfrm>
            <a:off x="6812280" y="914400"/>
            <a:ext cx="64008" cy="1005840"/>
          </a:xfrm>
          <a:prstGeom prst="rect">
            <a:avLst/>
          </a:prstGeom>
          <a:solidFill>
            <a:srgbClr val="FF6B6B"/>
          </a:solidFill>
          <a:ln w="12700">
            <a:solidFill>
              <a:srgbClr val="000000"/>
            </a:solidFill>
            <a:prstDash val="solid"/>
          </a:ln>
        </p:spPr>
        <p:txBody>
          <a:bodyPr/>
          <a:lstStyle/>
          <a:p>
            <a:endParaRPr lang="en-AU"/>
          </a:p>
        </p:txBody>
      </p:sp>
      <p:sp>
        <p:nvSpPr>
          <p:cNvPr id="21" name="Text 19"/>
          <p:cNvSpPr/>
          <p:nvPr/>
        </p:nvSpPr>
        <p:spPr>
          <a:xfrm>
            <a:off x="6903720" y="969264"/>
            <a:ext cx="1783080" cy="502920"/>
          </a:xfrm>
          <a:prstGeom prst="rect">
            <a:avLst/>
          </a:prstGeom>
          <a:noFill/>
          <a:ln/>
        </p:spPr>
        <p:txBody>
          <a:bodyPr wrap="square" lIns="0" tIns="0" rIns="0" bIns="0" rtlCol="0" anchor="ctr"/>
          <a:lstStyle/>
          <a:p>
            <a:pPr marL="0" indent="0" algn="ctr">
              <a:buNone/>
            </a:pPr>
            <a:r>
              <a:rPr lang="en-US" sz="3000" b="1" dirty="0">
                <a:solidFill>
                  <a:srgbClr val="FF6B6B"/>
                </a:solidFill>
                <a:latin typeface="Trebuchet MS" pitchFamily="34" charset="0"/>
                <a:ea typeface="Trebuchet MS" pitchFamily="34" charset="-122"/>
                <a:cs typeface="Trebuchet MS" pitchFamily="34" charset="-120"/>
              </a:rPr>
              <a:t>0.624</a:t>
            </a:r>
            <a:endParaRPr lang="en-US" sz="3000" dirty="0"/>
          </a:p>
        </p:txBody>
      </p:sp>
      <p:sp>
        <p:nvSpPr>
          <p:cNvPr id="22" name="Text 20"/>
          <p:cNvSpPr/>
          <p:nvPr/>
        </p:nvSpPr>
        <p:spPr>
          <a:xfrm>
            <a:off x="6885432" y="1463040"/>
            <a:ext cx="1819656" cy="201168"/>
          </a:xfrm>
          <a:prstGeom prst="rect">
            <a:avLst/>
          </a:prstGeom>
          <a:noFill/>
          <a:ln/>
        </p:spPr>
        <p:txBody>
          <a:bodyPr wrap="square" lIns="0" tIns="0" rIns="0" bIns="0" rtlCol="0" anchor="ctr"/>
          <a:lstStyle/>
          <a:p>
            <a:pPr marL="0" indent="0" algn="ctr">
              <a:buNone/>
            </a:pPr>
            <a:r>
              <a:rPr lang="en-US" sz="850" b="1" dirty="0">
                <a:solidFill>
                  <a:srgbClr val="FFFFFF"/>
                </a:solidFill>
                <a:latin typeface="Trebuchet MS" pitchFamily="34" charset="0"/>
                <a:ea typeface="Trebuchet MS" pitchFamily="34" charset="-122"/>
                <a:cs typeface="Trebuchet MS" pitchFamily="34" charset="-120"/>
              </a:rPr>
              <a:t>High Priority F1</a:t>
            </a:r>
            <a:endParaRPr lang="en-US" sz="850" dirty="0"/>
          </a:p>
        </p:txBody>
      </p:sp>
      <p:sp>
        <p:nvSpPr>
          <p:cNvPr id="23" name="Text 21"/>
          <p:cNvSpPr/>
          <p:nvPr/>
        </p:nvSpPr>
        <p:spPr>
          <a:xfrm>
            <a:off x="6885432" y="1664208"/>
            <a:ext cx="1819656" cy="164592"/>
          </a:xfrm>
          <a:prstGeom prst="rect">
            <a:avLst/>
          </a:prstGeom>
          <a:noFill/>
          <a:ln/>
        </p:spPr>
        <p:txBody>
          <a:bodyPr wrap="square" lIns="0" tIns="0" rIns="0" bIns="0" rtlCol="0" anchor="ctr"/>
          <a:lstStyle/>
          <a:p>
            <a:pPr marL="0" indent="0" algn="ctr">
              <a:buNone/>
            </a:pPr>
            <a:r>
              <a:rPr lang="en-US" sz="750" dirty="0">
                <a:solidFill>
                  <a:srgbClr val="8BA8BF"/>
                </a:solidFill>
                <a:latin typeface="Trebuchet MS" pitchFamily="34" charset="0"/>
                <a:ea typeface="Trebuchet MS" pitchFamily="34" charset="-122"/>
                <a:cs typeface="Trebuchet MS" pitchFamily="34" charset="-120"/>
              </a:rPr>
              <a:t>Best priority class</a:t>
            </a:r>
            <a:endParaRPr lang="en-US" sz="750" dirty="0"/>
          </a:p>
        </p:txBody>
      </p:sp>
      <p:graphicFrame>
        <p:nvGraphicFramePr>
          <p:cNvPr id="24" name="Chart 0"/>
          <p:cNvGraphicFramePr/>
          <p:nvPr/>
        </p:nvGraphicFramePr>
        <p:xfrm>
          <a:off x="365760" y="2103120"/>
          <a:ext cx="4160520" cy="26060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hart 1"/>
          <p:cNvGraphicFramePr/>
          <p:nvPr/>
        </p:nvGraphicFramePr>
        <p:xfrm>
          <a:off x="4663440" y="2103120"/>
          <a:ext cx="411480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26" name="Shape 22"/>
          <p:cNvSpPr/>
          <p:nvPr/>
        </p:nvSpPr>
        <p:spPr>
          <a:xfrm>
            <a:off x="365760" y="4736592"/>
            <a:ext cx="8412480" cy="292608"/>
          </a:xfrm>
          <a:prstGeom prst="rect">
            <a:avLst/>
          </a:prstGeom>
          <a:solidFill>
            <a:srgbClr val="1A2F4A"/>
          </a:solidFill>
          <a:ln w="6350">
            <a:solidFill>
              <a:srgbClr val="00C9B8"/>
            </a:solidFill>
            <a:prstDash val="solid"/>
          </a:ln>
        </p:spPr>
        <p:txBody>
          <a:bodyPr/>
          <a:lstStyle/>
          <a:p>
            <a:endParaRPr lang="en-AU"/>
          </a:p>
        </p:txBody>
      </p:sp>
      <p:sp>
        <p:nvSpPr>
          <p:cNvPr id="27" name="Text 23"/>
          <p:cNvSpPr/>
          <p:nvPr/>
        </p:nvSpPr>
        <p:spPr>
          <a:xfrm>
            <a:off x="502920" y="4754880"/>
            <a:ext cx="8229600" cy="256032"/>
          </a:xfrm>
          <a:prstGeom prst="rect">
            <a:avLst/>
          </a:prstGeom>
          <a:noFill/>
          <a:ln/>
        </p:spPr>
        <p:txBody>
          <a:bodyPr wrap="square" lIns="0" tIns="0" rIns="0" bIns="0" rtlCol="0" anchor="ctr"/>
          <a:lstStyle/>
          <a:p>
            <a:pPr marL="0" indent="0">
              <a:buNone/>
            </a:pPr>
            <a:r>
              <a:rPr lang="en-US" sz="850" i="1" dirty="0">
                <a:solidFill>
                  <a:srgbClr val="A8C4D8"/>
                </a:solidFill>
                <a:latin typeface="Trebuchet MS" pitchFamily="34" charset="0"/>
                <a:ea typeface="Trebuchet MS" pitchFamily="34" charset="-122"/>
                <a:cs typeface="Trebuchet MS" pitchFamily="34" charset="-120"/>
              </a:rPr>
              <a:t>Moderate scores reflect multilingual imbalance and overlapping categories — reinforces human-in-the-loop design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Workflow and Streamlit Demonstration</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60120"/>
            <a:ext cx="1051560" cy="594360"/>
          </a:xfrm>
          <a:prstGeom prst="rect">
            <a:avLst/>
          </a:prstGeom>
          <a:solidFill>
            <a:srgbClr val="00C9B8"/>
          </a:solidFill>
          <a:ln w="12700">
            <a:solidFill>
              <a:srgbClr val="000000"/>
            </a:solidFill>
            <a:prstDash val="solid"/>
          </a:ln>
        </p:spPr>
        <p:txBody>
          <a:bodyPr/>
          <a:lstStyle/>
          <a:p>
            <a:endParaRPr lang="en-AU"/>
          </a:p>
        </p:txBody>
      </p:sp>
      <p:sp>
        <p:nvSpPr>
          <p:cNvPr id="5" name="Text 3"/>
          <p:cNvSpPr/>
          <p:nvPr/>
        </p:nvSpPr>
        <p:spPr>
          <a:xfrm>
            <a:off x="402336"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Data</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Audit</a:t>
            </a:r>
            <a:endParaRPr lang="en-US" sz="850" dirty="0"/>
          </a:p>
        </p:txBody>
      </p:sp>
      <p:sp>
        <p:nvSpPr>
          <p:cNvPr id="6" name="Shape 4"/>
          <p:cNvSpPr/>
          <p:nvPr/>
        </p:nvSpPr>
        <p:spPr>
          <a:xfrm>
            <a:off x="1417320"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7" name="Shape 5"/>
          <p:cNvSpPr/>
          <p:nvPr/>
        </p:nvSpPr>
        <p:spPr>
          <a:xfrm>
            <a:off x="1581912" y="960120"/>
            <a:ext cx="1051560" cy="594360"/>
          </a:xfrm>
          <a:prstGeom prst="rect">
            <a:avLst/>
          </a:prstGeom>
          <a:solidFill>
            <a:srgbClr val="00C9B8"/>
          </a:solidFill>
          <a:ln w="12700">
            <a:solidFill>
              <a:srgbClr val="000000"/>
            </a:solidFill>
            <a:prstDash val="solid"/>
          </a:ln>
        </p:spPr>
        <p:txBody>
          <a:bodyPr/>
          <a:lstStyle/>
          <a:p>
            <a:endParaRPr lang="en-AU"/>
          </a:p>
        </p:txBody>
      </p:sp>
      <p:sp>
        <p:nvSpPr>
          <p:cNvPr id="8" name="Text 6"/>
          <p:cNvSpPr/>
          <p:nvPr/>
        </p:nvSpPr>
        <p:spPr>
          <a:xfrm>
            <a:off x="1618488"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Text</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Prep</a:t>
            </a:r>
            <a:endParaRPr lang="en-US" sz="850" dirty="0"/>
          </a:p>
        </p:txBody>
      </p:sp>
      <p:sp>
        <p:nvSpPr>
          <p:cNvPr id="9" name="Shape 7"/>
          <p:cNvSpPr/>
          <p:nvPr/>
        </p:nvSpPr>
        <p:spPr>
          <a:xfrm>
            <a:off x="2633472"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0" name="Shape 8"/>
          <p:cNvSpPr/>
          <p:nvPr/>
        </p:nvSpPr>
        <p:spPr>
          <a:xfrm>
            <a:off x="2798064" y="960120"/>
            <a:ext cx="1051560" cy="594360"/>
          </a:xfrm>
          <a:prstGeom prst="rect">
            <a:avLst/>
          </a:prstGeom>
          <a:solidFill>
            <a:srgbClr val="14B8A6"/>
          </a:solidFill>
          <a:ln w="12700">
            <a:solidFill>
              <a:srgbClr val="000000"/>
            </a:solidFill>
            <a:prstDash val="solid"/>
          </a:ln>
        </p:spPr>
        <p:txBody>
          <a:bodyPr/>
          <a:lstStyle/>
          <a:p>
            <a:endParaRPr lang="en-AU"/>
          </a:p>
        </p:txBody>
      </p:sp>
      <p:sp>
        <p:nvSpPr>
          <p:cNvPr id="11" name="Text 9"/>
          <p:cNvSpPr/>
          <p:nvPr/>
        </p:nvSpPr>
        <p:spPr>
          <a:xfrm>
            <a:off x="2834640"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TF-IDF</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Features</a:t>
            </a:r>
            <a:endParaRPr lang="en-US" sz="850" dirty="0"/>
          </a:p>
        </p:txBody>
      </p:sp>
      <p:sp>
        <p:nvSpPr>
          <p:cNvPr id="12" name="Shape 10"/>
          <p:cNvSpPr/>
          <p:nvPr/>
        </p:nvSpPr>
        <p:spPr>
          <a:xfrm>
            <a:off x="3849624"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3" name="Shape 11"/>
          <p:cNvSpPr/>
          <p:nvPr/>
        </p:nvSpPr>
        <p:spPr>
          <a:xfrm>
            <a:off x="4014216" y="960120"/>
            <a:ext cx="1051560" cy="594360"/>
          </a:xfrm>
          <a:prstGeom prst="rect">
            <a:avLst/>
          </a:prstGeom>
          <a:solidFill>
            <a:srgbClr val="14B8A6"/>
          </a:solidFill>
          <a:ln w="12700">
            <a:solidFill>
              <a:srgbClr val="000000"/>
            </a:solidFill>
            <a:prstDash val="solid"/>
          </a:ln>
        </p:spPr>
        <p:txBody>
          <a:bodyPr/>
          <a:lstStyle/>
          <a:p>
            <a:endParaRPr lang="en-AU"/>
          </a:p>
        </p:txBody>
      </p:sp>
      <p:sp>
        <p:nvSpPr>
          <p:cNvPr id="14" name="Text 12"/>
          <p:cNvSpPr/>
          <p:nvPr/>
        </p:nvSpPr>
        <p:spPr>
          <a:xfrm>
            <a:off x="4050792"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Model</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Training</a:t>
            </a:r>
            <a:endParaRPr lang="en-US" sz="850" dirty="0"/>
          </a:p>
        </p:txBody>
      </p:sp>
      <p:sp>
        <p:nvSpPr>
          <p:cNvPr id="15" name="Shape 13"/>
          <p:cNvSpPr/>
          <p:nvPr/>
        </p:nvSpPr>
        <p:spPr>
          <a:xfrm>
            <a:off x="5065776"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6" name="Shape 14"/>
          <p:cNvSpPr/>
          <p:nvPr/>
        </p:nvSpPr>
        <p:spPr>
          <a:xfrm>
            <a:off x="5230368" y="960120"/>
            <a:ext cx="1051560" cy="594360"/>
          </a:xfrm>
          <a:prstGeom prst="rect">
            <a:avLst/>
          </a:prstGeom>
          <a:solidFill>
            <a:srgbClr val="F5C842"/>
          </a:solidFill>
          <a:ln w="12700">
            <a:solidFill>
              <a:srgbClr val="000000"/>
            </a:solidFill>
            <a:prstDash val="solid"/>
          </a:ln>
        </p:spPr>
        <p:txBody>
          <a:bodyPr/>
          <a:lstStyle/>
          <a:p>
            <a:endParaRPr lang="en-AU"/>
          </a:p>
        </p:txBody>
      </p:sp>
      <p:sp>
        <p:nvSpPr>
          <p:cNvPr id="17" name="Text 15"/>
          <p:cNvSpPr/>
          <p:nvPr/>
        </p:nvSpPr>
        <p:spPr>
          <a:xfrm>
            <a:off x="5266944"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Evaluation</a:t>
            </a:r>
            <a:endParaRPr lang="en-US" sz="850" dirty="0"/>
          </a:p>
        </p:txBody>
      </p:sp>
      <p:sp>
        <p:nvSpPr>
          <p:cNvPr id="18" name="Shape 16"/>
          <p:cNvSpPr/>
          <p:nvPr/>
        </p:nvSpPr>
        <p:spPr>
          <a:xfrm>
            <a:off x="6281928"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19" name="Shape 17"/>
          <p:cNvSpPr/>
          <p:nvPr/>
        </p:nvSpPr>
        <p:spPr>
          <a:xfrm>
            <a:off x="6446520" y="960120"/>
            <a:ext cx="1051560" cy="594360"/>
          </a:xfrm>
          <a:prstGeom prst="rect">
            <a:avLst/>
          </a:prstGeom>
          <a:solidFill>
            <a:srgbClr val="FF6B6B"/>
          </a:solidFill>
          <a:ln w="12700">
            <a:solidFill>
              <a:srgbClr val="000000"/>
            </a:solidFill>
            <a:prstDash val="solid"/>
          </a:ln>
        </p:spPr>
        <p:txBody>
          <a:bodyPr/>
          <a:lstStyle/>
          <a:p>
            <a:endParaRPr lang="en-AU"/>
          </a:p>
        </p:txBody>
      </p:sp>
      <p:sp>
        <p:nvSpPr>
          <p:cNvPr id="20" name="Text 18"/>
          <p:cNvSpPr/>
          <p:nvPr/>
        </p:nvSpPr>
        <p:spPr>
          <a:xfrm>
            <a:off x="6483096"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Routing &amp;</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Escalation</a:t>
            </a:r>
            <a:endParaRPr lang="en-US" sz="850" dirty="0"/>
          </a:p>
        </p:txBody>
      </p:sp>
      <p:sp>
        <p:nvSpPr>
          <p:cNvPr id="21" name="Shape 19"/>
          <p:cNvSpPr/>
          <p:nvPr/>
        </p:nvSpPr>
        <p:spPr>
          <a:xfrm>
            <a:off x="7498080" y="1229868"/>
            <a:ext cx="164592" cy="54864"/>
          </a:xfrm>
          <a:prstGeom prst="rect">
            <a:avLst/>
          </a:prstGeom>
          <a:solidFill>
            <a:srgbClr val="8BA8BF"/>
          </a:solidFill>
          <a:ln w="12700">
            <a:solidFill>
              <a:srgbClr val="000000"/>
            </a:solidFill>
            <a:prstDash val="solid"/>
          </a:ln>
        </p:spPr>
        <p:txBody>
          <a:bodyPr/>
          <a:lstStyle/>
          <a:p>
            <a:endParaRPr lang="en-AU"/>
          </a:p>
        </p:txBody>
      </p:sp>
      <p:sp>
        <p:nvSpPr>
          <p:cNvPr id="22" name="Shape 20"/>
          <p:cNvSpPr/>
          <p:nvPr/>
        </p:nvSpPr>
        <p:spPr>
          <a:xfrm>
            <a:off x="7662672" y="960120"/>
            <a:ext cx="1051560" cy="594360"/>
          </a:xfrm>
          <a:prstGeom prst="rect">
            <a:avLst/>
          </a:prstGeom>
          <a:solidFill>
            <a:srgbClr val="00C9B8"/>
          </a:solidFill>
          <a:ln w="12700">
            <a:solidFill>
              <a:srgbClr val="000000"/>
            </a:solidFill>
            <a:prstDash val="solid"/>
          </a:ln>
        </p:spPr>
        <p:txBody>
          <a:bodyPr/>
          <a:lstStyle/>
          <a:p>
            <a:endParaRPr lang="en-AU"/>
          </a:p>
        </p:txBody>
      </p:sp>
      <p:sp>
        <p:nvSpPr>
          <p:cNvPr id="23" name="Text 21"/>
          <p:cNvSpPr/>
          <p:nvPr/>
        </p:nvSpPr>
        <p:spPr>
          <a:xfrm>
            <a:off x="7699248" y="1024128"/>
            <a:ext cx="978408" cy="466344"/>
          </a:xfrm>
          <a:prstGeom prst="rect">
            <a:avLst/>
          </a:prstGeom>
          <a:noFill/>
          <a:ln/>
        </p:spPr>
        <p:txBody>
          <a:bodyPr wrap="square" lIns="0" tIns="0" rIns="0" bIns="0" rtlCol="0" anchor="ctr"/>
          <a:lstStyle/>
          <a:p>
            <a:pPr marL="0" indent="0" algn="ctr">
              <a:buNone/>
            </a:pPr>
            <a:r>
              <a:rPr lang="en-US" sz="850" b="1" dirty="0">
                <a:solidFill>
                  <a:srgbClr val="0D1B2A"/>
                </a:solidFill>
                <a:latin typeface="Trebuchet MS" pitchFamily="34" charset="0"/>
                <a:ea typeface="Trebuchet MS" pitchFamily="34" charset="-122"/>
                <a:cs typeface="Trebuchet MS" pitchFamily="34" charset="-120"/>
              </a:rPr>
              <a:t>App</a:t>
            </a:r>
            <a:endParaRPr lang="en-US" sz="850" dirty="0"/>
          </a:p>
          <a:p>
            <a:pPr marL="0" indent="0" algn="ctr">
              <a:buNone/>
            </a:pPr>
            <a:r>
              <a:rPr lang="en-US" sz="850" b="1" dirty="0">
                <a:solidFill>
                  <a:srgbClr val="0D1B2A"/>
                </a:solidFill>
                <a:latin typeface="Trebuchet MS" pitchFamily="34" charset="0"/>
                <a:ea typeface="Trebuchet MS" pitchFamily="34" charset="-122"/>
                <a:cs typeface="Trebuchet MS" pitchFamily="34" charset="-120"/>
              </a:rPr>
              <a:t>Output</a:t>
            </a:r>
            <a:endParaRPr lang="en-US" sz="850" dirty="0"/>
          </a:p>
        </p:txBody>
      </p:sp>
      <p:sp>
        <p:nvSpPr>
          <p:cNvPr id="24" name="Shape 22"/>
          <p:cNvSpPr/>
          <p:nvPr/>
        </p:nvSpPr>
        <p:spPr>
          <a:xfrm>
            <a:off x="365760" y="1783080"/>
            <a:ext cx="2743200" cy="31089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5" name="Shape 23"/>
          <p:cNvSpPr/>
          <p:nvPr/>
        </p:nvSpPr>
        <p:spPr>
          <a:xfrm>
            <a:off x="365760" y="1783080"/>
            <a:ext cx="64008" cy="3108960"/>
          </a:xfrm>
          <a:prstGeom prst="rect">
            <a:avLst/>
          </a:prstGeom>
          <a:solidFill>
            <a:srgbClr val="00C9B8"/>
          </a:solidFill>
          <a:ln w="12700">
            <a:solidFill>
              <a:srgbClr val="000000"/>
            </a:solidFill>
            <a:prstDash val="solid"/>
          </a:ln>
        </p:spPr>
        <p:txBody>
          <a:bodyPr/>
          <a:lstStyle/>
          <a:p>
            <a:endParaRPr lang="en-AU"/>
          </a:p>
        </p:txBody>
      </p:sp>
      <p:sp>
        <p:nvSpPr>
          <p:cNvPr id="26" name="Text 24"/>
          <p:cNvSpPr/>
          <p:nvPr/>
        </p:nvSpPr>
        <p:spPr>
          <a:xfrm>
            <a:off x="548640" y="1901952"/>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Streamlit App</a:t>
            </a:r>
            <a:endParaRPr lang="en-US" sz="1200" dirty="0"/>
          </a:p>
        </p:txBody>
      </p:sp>
      <p:sp>
        <p:nvSpPr>
          <p:cNvPr id="27" name="Text 25"/>
          <p:cNvSpPr/>
          <p:nvPr/>
        </p:nvSpPr>
        <p:spPr>
          <a:xfrm>
            <a:off x="548640" y="2194560"/>
            <a:ext cx="2377440" cy="219456"/>
          </a:xfrm>
          <a:prstGeom prst="rect">
            <a:avLst/>
          </a:prstGeom>
          <a:noFill/>
          <a:ln/>
        </p:spPr>
        <p:txBody>
          <a:bodyPr wrap="square" lIns="0" tIns="0" rIns="0" bIns="0" rtlCol="0" anchor="ctr"/>
          <a:lstStyle/>
          <a:p>
            <a:pPr marL="0" indent="0">
              <a:buNone/>
            </a:pPr>
            <a:r>
              <a:rPr lang="en-US" sz="900" i="1" dirty="0">
                <a:solidFill>
                  <a:srgbClr val="00C9B8"/>
                </a:solidFill>
                <a:latin typeface="Trebuchet MS" pitchFamily="34" charset="0"/>
                <a:ea typeface="Trebuchet MS" pitchFamily="34" charset="-122"/>
                <a:cs typeface="Trebuchet MS" pitchFamily="34" charset="-120"/>
              </a:rPr>
              <a:t>Overview Tab</a:t>
            </a:r>
            <a:endParaRPr lang="en-US" sz="900" dirty="0"/>
          </a:p>
        </p:txBody>
      </p:sp>
      <p:sp>
        <p:nvSpPr>
          <p:cNvPr id="28" name="Shape 26"/>
          <p:cNvSpPr/>
          <p:nvPr/>
        </p:nvSpPr>
        <p:spPr>
          <a:xfrm>
            <a:off x="566928" y="2505456"/>
            <a:ext cx="109728" cy="109728"/>
          </a:xfrm>
          <a:prstGeom prst="ellipse">
            <a:avLst/>
          </a:prstGeom>
          <a:solidFill>
            <a:srgbClr val="00C9B8"/>
          </a:solidFill>
          <a:ln w="12700">
            <a:solidFill>
              <a:srgbClr val="000000"/>
            </a:solidFill>
            <a:prstDash val="solid"/>
          </a:ln>
        </p:spPr>
        <p:txBody>
          <a:bodyPr/>
          <a:lstStyle/>
          <a:p>
            <a:endParaRPr lang="en-AU"/>
          </a:p>
        </p:txBody>
      </p:sp>
      <p:sp>
        <p:nvSpPr>
          <p:cNvPr id="29" name="Text 27"/>
          <p:cNvSpPr/>
          <p:nvPr/>
        </p:nvSpPr>
        <p:spPr>
          <a:xfrm>
            <a:off x="768096" y="2450592"/>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Project workflow diagram</a:t>
            </a:r>
            <a:endParaRPr lang="en-US" sz="950" dirty="0"/>
          </a:p>
        </p:txBody>
      </p:sp>
      <p:sp>
        <p:nvSpPr>
          <p:cNvPr id="30" name="Shape 28"/>
          <p:cNvSpPr/>
          <p:nvPr/>
        </p:nvSpPr>
        <p:spPr>
          <a:xfrm>
            <a:off x="566928" y="2980944"/>
            <a:ext cx="109728" cy="109728"/>
          </a:xfrm>
          <a:prstGeom prst="ellipse">
            <a:avLst/>
          </a:prstGeom>
          <a:solidFill>
            <a:srgbClr val="00C9B8"/>
          </a:solidFill>
          <a:ln w="12700">
            <a:solidFill>
              <a:srgbClr val="000000"/>
            </a:solidFill>
            <a:prstDash val="solid"/>
          </a:ln>
        </p:spPr>
        <p:txBody>
          <a:bodyPr/>
          <a:lstStyle/>
          <a:p>
            <a:endParaRPr lang="en-AU"/>
          </a:p>
        </p:txBody>
      </p:sp>
      <p:sp>
        <p:nvSpPr>
          <p:cNvPr id="31" name="Text 29"/>
          <p:cNvSpPr/>
          <p:nvPr/>
        </p:nvSpPr>
        <p:spPr>
          <a:xfrm>
            <a:off x="768096" y="2926080"/>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Dataset language distribution</a:t>
            </a:r>
            <a:endParaRPr lang="en-US" sz="950" dirty="0"/>
          </a:p>
        </p:txBody>
      </p:sp>
      <p:sp>
        <p:nvSpPr>
          <p:cNvPr id="32" name="Shape 30"/>
          <p:cNvSpPr/>
          <p:nvPr/>
        </p:nvSpPr>
        <p:spPr>
          <a:xfrm>
            <a:off x="566928" y="3456432"/>
            <a:ext cx="109728" cy="109728"/>
          </a:xfrm>
          <a:prstGeom prst="ellipse">
            <a:avLst/>
          </a:prstGeom>
          <a:solidFill>
            <a:srgbClr val="00C9B8"/>
          </a:solidFill>
          <a:ln w="12700">
            <a:solidFill>
              <a:srgbClr val="000000"/>
            </a:solidFill>
            <a:prstDash val="solid"/>
          </a:ln>
        </p:spPr>
        <p:txBody>
          <a:bodyPr/>
          <a:lstStyle/>
          <a:p>
            <a:endParaRPr lang="en-AU"/>
          </a:p>
        </p:txBody>
      </p:sp>
      <p:sp>
        <p:nvSpPr>
          <p:cNvPr id="33" name="Text 31"/>
          <p:cNvSpPr/>
          <p:nvPr/>
        </p:nvSpPr>
        <p:spPr>
          <a:xfrm>
            <a:off x="768096" y="3401568"/>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Priority distribution chart</a:t>
            </a:r>
            <a:endParaRPr lang="en-US" sz="950" dirty="0"/>
          </a:p>
        </p:txBody>
      </p:sp>
      <p:sp>
        <p:nvSpPr>
          <p:cNvPr id="34" name="Shape 32"/>
          <p:cNvSpPr/>
          <p:nvPr/>
        </p:nvSpPr>
        <p:spPr>
          <a:xfrm>
            <a:off x="566928" y="3931920"/>
            <a:ext cx="109728" cy="109728"/>
          </a:xfrm>
          <a:prstGeom prst="ellipse">
            <a:avLst/>
          </a:prstGeom>
          <a:solidFill>
            <a:srgbClr val="00C9B8"/>
          </a:solidFill>
          <a:ln w="12700">
            <a:solidFill>
              <a:srgbClr val="000000"/>
            </a:solidFill>
            <a:prstDash val="solid"/>
          </a:ln>
        </p:spPr>
        <p:txBody>
          <a:bodyPr/>
          <a:lstStyle/>
          <a:p>
            <a:endParaRPr lang="en-AU"/>
          </a:p>
        </p:txBody>
      </p:sp>
      <p:sp>
        <p:nvSpPr>
          <p:cNvPr id="35" name="Text 33"/>
          <p:cNvSpPr/>
          <p:nvPr/>
        </p:nvSpPr>
        <p:spPr>
          <a:xfrm>
            <a:off x="768096" y="3877056"/>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Model comparison results</a:t>
            </a:r>
            <a:endParaRPr lang="en-US" sz="950" dirty="0"/>
          </a:p>
        </p:txBody>
      </p:sp>
      <p:sp>
        <p:nvSpPr>
          <p:cNvPr id="36" name="Shape 34"/>
          <p:cNvSpPr/>
          <p:nvPr/>
        </p:nvSpPr>
        <p:spPr>
          <a:xfrm>
            <a:off x="3310128" y="1783080"/>
            <a:ext cx="2743200" cy="31089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7" name="Shape 35"/>
          <p:cNvSpPr/>
          <p:nvPr/>
        </p:nvSpPr>
        <p:spPr>
          <a:xfrm>
            <a:off x="3310128" y="1783080"/>
            <a:ext cx="64008" cy="3108960"/>
          </a:xfrm>
          <a:prstGeom prst="rect">
            <a:avLst/>
          </a:prstGeom>
          <a:solidFill>
            <a:srgbClr val="FF6B6B"/>
          </a:solidFill>
          <a:ln w="12700">
            <a:solidFill>
              <a:srgbClr val="000000"/>
            </a:solidFill>
            <a:prstDash val="solid"/>
          </a:ln>
        </p:spPr>
        <p:txBody>
          <a:bodyPr/>
          <a:lstStyle/>
          <a:p>
            <a:endParaRPr lang="en-AU"/>
          </a:p>
        </p:txBody>
      </p:sp>
      <p:sp>
        <p:nvSpPr>
          <p:cNvPr id="38" name="Text 36"/>
          <p:cNvSpPr/>
          <p:nvPr/>
        </p:nvSpPr>
        <p:spPr>
          <a:xfrm>
            <a:off x="3493008" y="1901952"/>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Try Solution Tab</a:t>
            </a:r>
            <a:endParaRPr lang="en-US" sz="1200" dirty="0"/>
          </a:p>
        </p:txBody>
      </p:sp>
      <p:sp>
        <p:nvSpPr>
          <p:cNvPr id="39" name="Text 37"/>
          <p:cNvSpPr/>
          <p:nvPr/>
        </p:nvSpPr>
        <p:spPr>
          <a:xfrm>
            <a:off x="3493008" y="2194560"/>
            <a:ext cx="2377440" cy="219456"/>
          </a:xfrm>
          <a:prstGeom prst="rect">
            <a:avLst/>
          </a:prstGeom>
          <a:noFill/>
          <a:ln/>
        </p:spPr>
        <p:txBody>
          <a:bodyPr wrap="square" lIns="0" tIns="0" rIns="0" bIns="0" rtlCol="0" anchor="ctr"/>
          <a:lstStyle/>
          <a:p>
            <a:pPr marL="0" indent="0">
              <a:buNone/>
            </a:pPr>
            <a:r>
              <a:rPr lang="en-US" sz="900" i="1" dirty="0">
                <a:solidFill>
                  <a:srgbClr val="FF6B6B"/>
                </a:solidFill>
                <a:latin typeface="Trebuchet MS" pitchFamily="34" charset="0"/>
                <a:ea typeface="Trebuchet MS" pitchFamily="34" charset="-122"/>
                <a:cs typeface="Trebuchet MS" pitchFamily="34" charset="-120"/>
              </a:rPr>
              <a:t>Single Ticket Analysis</a:t>
            </a:r>
            <a:endParaRPr lang="en-US" sz="900" dirty="0"/>
          </a:p>
        </p:txBody>
      </p:sp>
      <p:sp>
        <p:nvSpPr>
          <p:cNvPr id="40" name="Shape 38"/>
          <p:cNvSpPr/>
          <p:nvPr/>
        </p:nvSpPr>
        <p:spPr>
          <a:xfrm>
            <a:off x="3511296" y="2505456"/>
            <a:ext cx="109728" cy="109728"/>
          </a:xfrm>
          <a:prstGeom prst="ellipse">
            <a:avLst/>
          </a:prstGeom>
          <a:solidFill>
            <a:srgbClr val="FF6B6B"/>
          </a:solidFill>
          <a:ln w="12700">
            <a:solidFill>
              <a:srgbClr val="000000"/>
            </a:solidFill>
            <a:prstDash val="solid"/>
          </a:ln>
        </p:spPr>
        <p:txBody>
          <a:bodyPr/>
          <a:lstStyle/>
          <a:p>
            <a:endParaRPr lang="en-AU"/>
          </a:p>
        </p:txBody>
      </p:sp>
      <p:sp>
        <p:nvSpPr>
          <p:cNvPr id="41" name="Text 39"/>
          <p:cNvSpPr/>
          <p:nvPr/>
        </p:nvSpPr>
        <p:spPr>
          <a:xfrm>
            <a:off x="3712464" y="2450592"/>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Enter or paste ticket text</a:t>
            </a:r>
            <a:endParaRPr lang="en-US" sz="950" dirty="0"/>
          </a:p>
        </p:txBody>
      </p:sp>
      <p:sp>
        <p:nvSpPr>
          <p:cNvPr id="42" name="Shape 40"/>
          <p:cNvSpPr/>
          <p:nvPr/>
        </p:nvSpPr>
        <p:spPr>
          <a:xfrm>
            <a:off x="3511296" y="2980944"/>
            <a:ext cx="109728" cy="109728"/>
          </a:xfrm>
          <a:prstGeom prst="ellipse">
            <a:avLst/>
          </a:prstGeom>
          <a:solidFill>
            <a:srgbClr val="FF6B6B"/>
          </a:solidFill>
          <a:ln w="12700">
            <a:solidFill>
              <a:srgbClr val="000000"/>
            </a:solidFill>
            <a:prstDash val="solid"/>
          </a:ln>
        </p:spPr>
        <p:txBody>
          <a:bodyPr/>
          <a:lstStyle/>
          <a:p>
            <a:endParaRPr lang="en-AU"/>
          </a:p>
        </p:txBody>
      </p:sp>
      <p:sp>
        <p:nvSpPr>
          <p:cNvPr id="43" name="Text 41"/>
          <p:cNvSpPr/>
          <p:nvPr/>
        </p:nvSpPr>
        <p:spPr>
          <a:xfrm>
            <a:off x="3712464" y="2926080"/>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Select from example scenarios</a:t>
            </a:r>
            <a:endParaRPr lang="en-US" sz="950" dirty="0"/>
          </a:p>
        </p:txBody>
      </p:sp>
      <p:sp>
        <p:nvSpPr>
          <p:cNvPr id="44" name="Shape 42"/>
          <p:cNvSpPr/>
          <p:nvPr/>
        </p:nvSpPr>
        <p:spPr>
          <a:xfrm>
            <a:off x="3511296" y="3456432"/>
            <a:ext cx="109728" cy="109728"/>
          </a:xfrm>
          <a:prstGeom prst="ellipse">
            <a:avLst/>
          </a:prstGeom>
          <a:solidFill>
            <a:srgbClr val="FF6B6B"/>
          </a:solidFill>
          <a:ln w="12700">
            <a:solidFill>
              <a:srgbClr val="000000"/>
            </a:solidFill>
            <a:prstDash val="solid"/>
          </a:ln>
        </p:spPr>
        <p:txBody>
          <a:bodyPr/>
          <a:lstStyle/>
          <a:p>
            <a:endParaRPr lang="en-AU"/>
          </a:p>
        </p:txBody>
      </p:sp>
      <p:sp>
        <p:nvSpPr>
          <p:cNvPr id="45" name="Text 43"/>
          <p:cNvSpPr/>
          <p:nvPr/>
        </p:nvSpPr>
        <p:spPr>
          <a:xfrm>
            <a:off x="3712464" y="3401568"/>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Click Analyse Ticket</a:t>
            </a:r>
            <a:endParaRPr lang="en-US" sz="950" dirty="0"/>
          </a:p>
        </p:txBody>
      </p:sp>
      <p:sp>
        <p:nvSpPr>
          <p:cNvPr id="46" name="Shape 44"/>
          <p:cNvSpPr/>
          <p:nvPr/>
        </p:nvSpPr>
        <p:spPr>
          <a:xfrm>
            <a:off x="3511296" y="3931920"/>
            <a:ext cx="109728" cy="109728"/>
          </a:xfrm>
          <a:prstGeom prst="ellipse">
            <a:avLst/>
          </a:prstGeom>
          <a:solidFill>
            <a:srgbClr val="FF6B6B"/>
          </a:solidFill>
          <a:ln w="12700">
            <a:solidFill>
              <a:srgbClr val="000000"/>
            </a:solidFill>
            <a:prstDash val="solid"/>
          </a:ln>
        </p:spPr>
        <p:txBody>
          <a:bodyPr/>
          <a:lstStyle/>
          <a:p>
            <a:endParaRPr lang="en-AU"/>
          </a:p>
        </p:txBody>
      </p:sp>
      <p:sp>
        <p:nvSpPr>
          <p:cNvPr id="47" name="Text 45"/>
          <p:cNvSpPr/>
          <p:nvPr/>
        </p:nvSpPr>
        <p:spPr>
          <a:xfrm>
            <a:off x="3712464" y="3877056"/>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View queue, priority, team, escalation, summary, terms</a:t>
            </a:r>
            <a:endParaRPr lang="en-US" sz="950" dirty="0"/>
          </a:p>
        </p:txBody>
      </p:sp>
      <p:sp>
        <p:nvSpPr>
          <p:cNvPr id="48" name="Shape 46"/>
          <p:cNvSpPr/>
          <p:nvPr/>
        </p:nvSpPr>
        <p:spPr>
          <a:xfrm>
            <a:off x="6254496" y="1783080"/>
            <a:ext cx="2743200" cy="31089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9" name="Shape 47"/>
          <p:cNvSpPr/>
          <p:nvPr/>
        </p:nvSpPr>
        <p:spPr>
          <a:xfrm>
            <a:off x="6254496" y="1783080"/>
            <a:ext cx="64008" cy="3108960"/>
          </a:xfrm>
          <a:prstGeom prst="rect">
            <a:avLst/>
          </a:prstGeom>
          <a:solidFill>
            <a:srgbClr val="F5C842"/>
          </a:solidFill>
          <a:ln w="12700">
            <a:solidFill>
              <a:srgbClr val="000000"/>
            </a:solidFill>
            <a:prstDash val="solid"/>
          </a:ln>
        </p:spPr>
        <p:txBody>
          <a:bodyPr/>
          <a:lstStyle/>
          <a:p>
            <a:endParaRPr lang="en-AU"/>
          </a:p>
        </p:txBody>
      </p:sp>
      <p:sp>
        <p:nvSpPr>
          <p:cNvPr id="50" name="Text 48"/>
          <p:cNvSpPr/>
          <p:nvPr/>
        </p:nvSpPr>
        <p:spPr>
          <a:xfrm>
            <a:off x="6437376" y="1901952"/>
            <a:ext cx="2377440" cy="292608"/>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Batch Upload</a:t>
            </a:r>
            <a:endParaRPr lang="en-US" sz="1200" dirty="0"/>
          </a:p>
        </p:txBody>
      </p:sp>
      <p:sp>
        <p:nvSpPr>
          <p:cNvPr id="51" name="Text 49"/>
          <p:cNvSpPr/>
          <p:nvPr/>
        </p:nvSpPr>
        <p:spPr>
          <a:xfrm>
            <a:off x="6437376" y="2194560"/>
            <a:ext cx="2377440" cy="219456"/>
          </a:xfrm>
          <a:prstGeom prst="rect">
            <a:avLst/>
          </a:prstGeom>
          <a:noFill/>
          <a:ln/>
        </p:spPr>
        <p:txBody>
          <a:bodyPr wrap="square" lIns="0" tIns="0" rIns="0" bIns="0" rtlCol="0" anchor="ctr"/>
          <a:lstStyle/>
          <a:p>
            <a:pPr marL="0" indent="0">
              <a:buNone/>
            </a:pPr>
            <a:r>
              <a:rPr lang="en-US" sz="900" i="1" dirty="0">
                <a:solidFill>
                  <a:srgbClr val="F5C842"/>
                </a:solidFill>
                <a:latin typeface="Trebuchet MS" pitchFamily="34" charset="0"/>
                <a:ea typeface="Trebuchet MS" pitchFamily="34" charset="-122"/>
                <a:cs typeface="Trebuchet MS" pitchFamily="34" charset="-120"/>
              </a:rPr>
              <a:t>CSV / Excel Input</a:t>
            </a:r>
            <a:endParaRPr lang="en-US" sz="900" dirty="0"/>
          </a:p>
        </p:txBody>
      </p:sp>
      <p:sp>
        <p:nvSpPr>
          <p:cNvPr id="52" name="Shape 50"/>
          <p:cNvSpPr/>
          <p:nvPr/>
        </p:nvSpPr>
        <p:spPr>
          <a:xfrm>
            <a:off x="6455664" y="2505456"/>
            <a:ext cx="109728" cy="109728"/>
          </a:xfrm>
          <a:prstGeom prst="ellipse">
            <a:avLst/>
          </a:prstGeom>
          <a:solidFill>
            <a:srgbClr val="F5C842"/>
          </a:solidFill>
          <a:ln w="12700">
            <a:solidFill>
              <a:srgbClr val="000000"/>
            </a:solidFill>
            <a:prstDash val="solid"/>
          </a:ln>
        </p:spPr>
        <p:txBody>
          <a:bodyPr/>
          <a:lstStyle/>
          <a:p>
            <a:endParaRPr lang="en-AU"/>
          </a:p>
        </p:txBody>
      </p:sp>
      <p:sp>
        <p:nvSpPr>
          <p:cNvPr id="53" name="Text 51"/>
          <p:cNvSpPr/>
          <p:nvPr/>
        </p:nvSpPr>
        <p:spPr>
          <a:xfrm>
            <a:off x="6656832" y="2450592"/>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Upload CSV or Excel file</a:t>
            </a:r>
            <a:endParaRPr lang="en-US" sz="950" dirty="0"/>
          </a:p>
        </p:txBody>
      </p:sp>
      <p:sp>
        <p:nvSpPr>
          <p:cNvPr id="54" name="Shape 52"/>
          <p:cNvSpPr/>
          <p:nvPr/>
        </p:nvSpPr>
        <p:spPr>
          <a:xfrm>
            <a:off x="6455664" y="2980944"/>
            <a:ext cx="109728" cy="109728"/>
          </a:xfrm>
          <a:prstGeom prst="ellipse">
            <a:avLst/>
          </a:prstGeom>
          <a:solidFill>
            <a:srgbClr val="F5C842"/>
          </a:solidFill>
          <a:ln w="12700">
            <a:solidFill>
              <a:srgbClr val="000000"/>
            </a:solidFill>
            <a:prstDash val="solid"/>
          </a:ln>
        </p:spPr>
        <p:txBody>
          <a:bodyPr/>
          <a:lstStyle/>
          <a:p>
            <a:endParaRPr lang="en-AU"/>
          </a:p>
        </p:txBody>
      </p:sp>
      <p:sp>
        <p:nvSpPr>
          <p:cNvPr id="55" name="Text 53"/>
          <p:cNvSpPr/>
          <p:nvPr/>
        </p:nvSpPr>
        <p:spPr>
          <a:xfrm>
            <a:off x="6656832" y="2926080"/>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Analyse multiple tickets at once</a:t>
            </a:r>
            <a:endParaRPr lang="en-US" sz="950" dirty="0"/>
          </a:p>
        </p:txBody>
      </p:sp>
      <p:sp>
        <p:nvSpPr>
          <p:cNvPr id="56" name="Shape 54"/>
          <p:cNvSpPr/>
          <p:nvPr/>
        </p:nvSpPr>
        <p:spPr>
          <a:xfrm>
            <a:off x="6455664" y="3456432"/>
            <a:ext cx="109728" cy="109728"/>
          </a:xfrm>
          <a:prstGeom prst="ellipse">
            <a:avLst/>
          </a:prstGeom>
          <a:solidFill>
            <a:srgbClr val="F5C842"/>
          </a:solidFill>
          <a:ln w="12700">
            <a:solidFill>
              <a:srgbClr val="000000"/>
            </a:solidFill>
            <a:prstDash val="solid"/>
          </a:ln>
        </p:spPr>
        <p:txBody>
          <a:bodyPr/>
          <a:lstStyle/>
          <a:p>
            <a:endParaRPr lang="en-AU"/>
          </a:p>
        </p:txBody>
      </p:sp>
      <p:sp>
        <p:nvSpPr>
          <p:cNvPr id="57" name="Text 55"/>
          <p:cNvSpPr/>
          <p:nvPr/>
        </p:nvSpPr>
        <p:spPr>
          <a:xfrm>
            <a:off x="6656832" y="3401568"/>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Results shown in downloadable table</a:t>
            </a:r>
            <a:endParaRPr lang="en-US" sz="950" dirty="0"/>
          </a:p>
        </p:txBody>
      </p:sp>
      <p:sp>
        <p:nvSpPr>
          <p:cNvPr id="58" name="Shape 56"/>
          <p:cNvSpPr/>
          <p:nvPr/>
        </p:nvSpPr>
        <p:spPr>
          <a:xfrm>
            <a:off x="6455664" y="3931920"/>
            <a:ext cx="109728" cy="109728"/>
          </a:xfrm>
          <a:prstGeom prst="ellipse">
            <a:avLst/>
          </a:prstGeom>
          <a:solidFill>
            <a:srgbClr val="F5C842"/>
          </a:solidFill>
          <a:ln w="12700">
            <a:solidFill>
              <a:srgbClr val="000000"/>
            </a:solidFill>
            <a:prstDash val="solid"/>
          </a:ln>
        </p:spPr>
        <p:txBody>
          <a:bodyPr/>
          <a:lstStyle/>
          <a:p>
            <a:endParaRPr lang="en-AU"/>
          </a:p>
        </p:txBody>
      </p:sp>
      <p:sp>
        <p:nvSpPr>
          <p:cNvPr id="59" name="Text 57"/>
          <p:cNvSpPr/>
          <p:nvPr/>
        </p:nvSpPr>
        <p:spPr>
          <a:xfrm>
            <a:off x="6656832" y="3877056"/>
            <a:ext cx="2231136" cy="420624"/>
          </a:xfrm>
          <a:prstGeom prst="rect">
            <a:avLst/>
          </a:prstGeom>
          <a:noFill/>
          <a:ln/>
        </p:spPr>
        <p:txBody>
          <a:bodyPr wrap="square" lIns="0" tIns="0" rIns="0" bIns="0" rtlCol="0" anchor="ctr"/>
          <a:lstStyle/>
          <a:p>
            <a:pPr marL="0" indent="0">
              <a:buNone/>
            </a:pPr>
            <a:r>
              <a:rPr lang="en-US" sz="950" dirty="0">
                <a:solidFill>
                  <a:srgbClr val="E8F4F8"/>
                </a:solidFill>
                <a:latin typeface="Trebuchet MS" pitchFamily="34" charset="0"/>
                <a:ea typeface="Trebuchet MS" pitchFamily="34" charset="-122"/>
                <a:cs typeface="Trebuchet MS" pitchFamily="34" charset="-120"/>
              </a:rPr>
              <a:t>Includes all triage outputs per row</a:t>
            </a:r>
            <a:endParaRPr lang="en-US" sz="950" dirty="0"/>
          </a:p>
        </p:txBody>
      </p:sp>
      <p:sp>
        <p:nvSpPr>
          <p:cNvPr id="60" name="Shape 58"/>
          <p:cNvSpPr/>
          <p:nvPr/>
        </p:nvSpPr>
        <p:spPr>
          <a:xfrm>
            <a:off x="365760" y="4736592"/>
            <a:ext cx="8412480" cy="292608"/>
          </a:xfrm>
          <a:prstGeom prst="rect">
            <a:avLst/>
          </a:prstGeom>
          <a:solidFill>
            <a:srgbClr val="1A2F4A"/>
          </a:solidFill>
          <a:ln w="6350">
            <a:solidFill>
              <a:srgbClr val="FF6B6B"/>
            </a:solidFill>
            <a:prstDash val="solid"/>
          </a:ln>
        </p:spPr>
        <p:txBody>
          <a:bodyPr/>
          <a:lstStyle/>
          <a:p>
            <a:endParaRPr lang="en-AU"/>
          </a:p>
        </p:txBody>
      </p:sp>
      <p:sp>
        <p:nvSpPr>
          <p:cNvPr id="61" name="Text 59"/>
          <p:cNvSpPr/>
          <p:nvPr/>
        </p:nvSpPr>
        <p:spPr>
          <a:xfrm>
            <a:off x="502920" y="4754880"/>
            <a:ext cx="8229600" cy="256032"/>
          </a:xfrm>
          <a:prstGeom prst="rect">
            <a:avLst/>
          </a:prstGeom>
          <a:noFill/>
          <a:ln/>
        </p:spPr>
        <p:txBody>
          <a:bodyPr wrap="square" lIns="0" tIns="0" rIns="0" bIns="0" rtlCol="0" anchor="ctr"/>
          <a:lstStyle/>
          <a:p>
            <a:pPr marL="0" indent="0">
              <a:buNone/>
            </a:pPr>
            <a:r>
              <a:rPr lang="en-US" sz="850" b="1" dirty="0">
                <a:solidFill>
                  <a:srgbClr val="FF6B6B"/>
                </a:solidFill>
                <a:latin typeface="Trebuchet MS" pitchFamily="34" charset="0"/>
                <a:ea typeface="Trebuchet MS" pitchFamily="34" charset="-122"/>
                <a:cs typeface="Trebuchet MS" pitchFamily="34" charset="-120"/>
              </a:rPr>
              <a:t>LIVE DEMO  →  Overview tab → workflow → Try Solution (Security Incident example) → Analyse → results → Batch Upload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Responsible AI, Limitations &amp; Future Work</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Shape 2"/>
          <p:cNvSpPr/>
          <p:nvPr/>
        </p:nvSpPr>
        <p:spPr>
          <a:xfrm>
            <a:off x="365760" y="914400"/>
            <a:ext cx="4160520" cy="283464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5" name="Shape 3"/>
          <p:cNvSpPr/>
          <p:nvPr/>
        </p:nvSpPr>
        <p:spPr>
          <a:xfrm>
            <a:off x="365760" y="914400"/>
            <a:ext cx="64008" cy="2834640"/>
          </a:xfrm>
          <a:prstGeom prst="rect">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566928" y="100584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RESPONSIBLE AI DESIGN</a:t>
            </a:r>
            <a:endParaRPr lang="en-US" sz="1100" dirty="0"/>
          </a:p>
        </p:txBody>
      </p:sp>
      <p:sp>
        <p:nvSpPr>
          <p:cNvPr id="7" name="Shape 5"/>
          <p:cNvSpPr/>
          <p:nvPr/>
        </p:nvSpPr>
        <p:spPr>
          <a:xfrm>
            <a:off x="566928" y="1472184"/>
            <a:ext cx="109728" cy="109728"/>
          </a:xfrm>
          <a:prstGeom prst="ellipse">
            <a:avLst/>
          </a:prstGeom>
          <a:solidFill>
            <a:srgbClr val="00C9B8"/>
          </a:solidFill>
          <a:ln w="12700">
            <a:solidFill>
              <a:srgbClr val="000000"/>
            </a:solidFill>
            <a:prstDash val="solid"/>
          </a:ln>
        </p:spPr>
        <p:txBody>
          <a:bodyPr/>
          <a:lstStyle/>
          <a:p>
            <a:endParaRPr lang="en-AU"/>
          </a:p>
        </p:txBody>
      </p:sp>
      <p:sp>
        <p:nvSpPr>
          <p:cNvPr id="8" name="Text 6"/>
          <p:cNvSpPr/>
          <p:nvPr/>
        </p:nvSpPr>
        <p:spPr>
          <a:xfrm>
            <a:off x="777240" y="1417320"/>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Human-in-the-loop</a:t>
            </a:r>
            <a:endParaRPr lang="en-US" sz="1050" dirty="0"/>
          </a:p>
        </p:txBody>
      </p:sp>
      <p:sp>
        <p:nvSpPr>
          <p:cNvPr id="9" name="Text 7"/>
          <p:cNvSpPr/>
          <p:nvPr/>
        </p:nvSpPr>
        <p:spPr>
          <a:xfrm>
            <a:off x="777240" y="1618488"/>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Agents retain final decision authority</a:t>
            </a:r>
            <a:endParaRPr lang="en-US" sz="900" dirty="0"/>
          </a:p>
        </p:txBody>
      </p:sp>
      <p:sp>
        <p:nvSpPr>
          <p:cNvPr id="10" name="Shape 8"/>
          <p:cNvSpPr/>
          <p:nvPr/>
        </p:nvSpPr>
        <p:spPr>
          <a:xfrm>
            <a:off x="566928" y="1911096"/>
            <a:ext cx="109728" cy="109728"/>
          </a:xfrm>
          <a:prstGeom prst="ellipse">
            <a:avLst/>
          </a:prstGeom>
          <a:solidFill>
            <a:srgbClr val="F5C842"/>
          </a:solidFill>
          <a:ln w="12700">
            <a:solidFill>
              <a:srgbClr val="000000"/>
            </a:solidFill>
            <a:prstDash val="solid"/>
          </a:ln>
        </p:spPr>
        <p:txBody>
          <a:bodyPr/>
          <a:lstStyle/>
          <a:p>
            <a:endParaRPr lang="en-AU"/>
          </a:p>
        </p:txBody>
      </p:sp>
      <p:sp>
        <p:nvSpPr>
          <p:cNvPr id="11" name="Text 9"/>
          <p:cNvSpPr/>
          <p:nvPr/>
        </p:nvSpPr>
        <p:spPr>
          <a:xfrm>
            <a:off x="777240" y="1856232"/>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Target Leakage Control</a:t>
            </a:r>
            <a:endParaRPr lang="en-US" sz="1050" dirty="0"/>
          </a:p>
        </p:txBody>
      </p:sp>
      <p:sp>
        <p:nvSpPr>
          <p:cNvPr id="12" name="Text 10"/>
          <p:cNvSpPr/>
          <p:nvPr/>
        </p:nvSpPr>
        <p:spPr>
          <a:xfrm>
            <a:off x="777240" y="2057400"/>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answer field excluded from all inputs</a:t>
            </a:r>
            <a:endParaRPr lang="en-US" sz="900" dirty="0"/>
          </a:p>
        </p:txBody>
      </p:sp>
      <p:sp>
        <p:nvSpPr>
          <p:cNvPr id="13" name="Shape 11"/>
          <p:cNvSpPr/>
          <p:nvPr/>
        </p:nvSpPr>
        <p:spPr>
          <a:xfrm>
            <a:off x="566928" y="2350008"/>
            <a:ext cx="109728" cy="109728"/>
          </a:xfrm>
          <a:prstGeom prst="ellipse">
            <a:avLst/>
          </a:prstGeom>
          <a:solidFill>
            <a:srgbClr val="14B8A6"/>
          </a:solidFill>
          <a:ln w="12700">
            <a:solidFill>
              <a:srgbClr val="000000"/>
            </a:solidFill>
            <a:prstDash val="solid"/>
          </a:ln>
        </p:spPr>
        <p:txBody>
          <a:bodyPr/>
          <a:lstStyle/>
          <a:p>
            <a:endParaRPr lang="en-AU"/>
          </a:p>
        </p:txBody>
      </p:sp>
      <p:sp>
        <p:nvSpPr>
          <p:cNvPr id="14" name="Text 12"/>
          <p:cNvSpPr/>
          <p:nvPr/>
        </p:nvSpPr>
        <p:spPr>
          <a:xfrm>
            <a:off x="777240" y="2295144"/>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Privacy Masking</a:t>
            </a:r>
            <a:endParaRPr lang="en-US" sz="1050" dirty="0"/>
          </a:p>
        </p:txBody>
      </p:sp>
      <p:sp>
        <p:nvSpPr>
          <p:cNvPr id="15" name="Text 13"/>
          <p:cNvSpPr/>
          <p:nvPr/>
        </p:nvSpPr>
        <p:spPr>
          <a:xfrm>
            <a:off x="777240" y="2496312"/>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Emails and phone numbers masked in summaries</a:t>
            </a:r>
            <a:endParaRPr lang="en-US" sz="900" dirty="0"/>
          </a:p>
        </p:txBody>
      </p:sp>
      <p:sp>
        <p:nvSpPr>
          <p:cNvPr id="16" name="Shape 14"/>
          <p:cNvSpPr/>
          <p:nvPr/>
        </p:nvSpPr>
        <p:spPr>
          <a:xfrm>
            <a:off x="566928" y="2788920"/>
            <a:ext cx="109728" cy="109728"/>
          </a:xfrm>
          <a:prstGeom prst="ellipse">
            <a:avLst/>
          </a:prstGeom>
          <a:solidFill>
            <a:srgbClr val="FF6B6B"/>
          </a:solidFill>
          <a:ln w="12700">
            <a:solidFill>
              <a:srgbClr val="000000"/>
            </a:solidFill>
            <a:prstDash val="solid"/>
          </a:ln>
        </p:spPr>
        <p:txBody>
          <a:bodyPr/>
          <a:lstStyle/>
          <a:p>
            <a:endParaRPr lang="en-AU"/>
          </a:p>
        </p:txBody>
      </p:sp>
      <p:sp>
        <p:nvSpPr>
          <p:cNvPr id="17" name="Text 15"/>
          <p:cNvSpPr/>
          <p:nvPr/>
        </p:nvSpPr>
        <p:spPr>
          <a:xfrm>
            <a:off x="777240" y="2734056"/>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Explainability</a:t>
            </a:r>
            <a:endParaRPr lang="en-US" sz="1050" dirty="0"/>
          </a:p>
        </p:txBody>
      </p:sp>
      <p:sp>
        <p:nvSpPr>
          <p:cNvPr id="18" name="Text 16"/>
          <p:cNvSpPr/>
          <p:nvPr/>
        </p:nvSpPr>
        <p:spPr>
          <a:xfrm>
            <a:off x="777240" y="2935224"/>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Influential TF-IDF terms shown per prediction</a:t>
            </a:r>
            <a:endParaRPr lang="en-US" sz="900" dirty="0"/>
          </a:p>
        </p:txBody>
      </p:sp>
      <p:sp>
        <p:nvSpPr>
          <p:cNvPr id="19" name="Shape 17"/>
          <p:cNvSpPr/>
          <p:nvPr/>
        </p:nvSpPr>
        <p:spPr>
          <a:xfrm>
            <a:off x="566928" y="3227832"/>
            <a:ext cx="109728" cy="109728"/>
          </a:xfrm>
          <a:prstGeom prst="ellipse">
            <a:avLst/>
          </a:prstGeom>
          <a:solidFill>
            <a:srgbClr val="E85555"/>
          </a:solidFill>
          <a:ln w="12700">
            <a:solidFill>
              <a:srgbClr val="000000"/>
            </a:solidFill>
            <a:prstDash val="solid"/>
          </a:ln>
        </p:spPr>
        <p:txBody>
          <a:bodyPr/>
          <a:lstStyle/>
          <a:p>
            <a:endParaRPr lang="en-AU"/>
          </a:p>
        </p:txBody>
      </p:sp>
      <p:sp>
        <p:nvSpPr>
          <p:cNvPr id="20" name="Text 18"/>
          <p:cNvSpPr/>
          <p:nvPr/>
        </p:nvSpPr>
        <p:spPr>
          <a:xfrm>
            <a:off x="777240" y="3172968"/>
            <a:ext cx="3611880" cy="219456"/>
          </a:xfrm>
          <a:prstGeom prst="rect">
            <a:avLst/>
          </a:prstGeom>
          <a:noFill/>
          <a:ln/>
        </p:spPr>
        <p:txBody>
          <a:bodyPr wrap="square" lIns="0" tIns="0" rIns="0" bIns="0" rtlCol="0" anchor="ctr"/>
          <a:lstStyle/>
          <a:p>
            <a:pPr marL="0" indent="0">
              <a:buNone/>
            </a:pPr>
            <a:r>
              <a:rPr lang="en-US" sz="1050" b="1" dirty="0">
                <a:solidFill>
                  <a:srgbClr val="FFFFFF"/>
                </a:solidFill>
                <a:latin typeface="Trebuchet MS" pitchFamily="34" charset="0"/>
                <a:ea typeface="Trebuchet MS" pitchFamily="34" charset="-122"/>
                <a:cs typeface="Trebuchet MS" pitchFamily="34" charset="-120"/>
              </a:rPr>
              <a:t>Escalation Rules</a:t>
            </a:r>
            <a:endParaRPr lang="en-US" sz="1050" dirty="0"/>
          </a:p>
        </p:txBody>
      </p:sp>
      <p:sp>
        <p:nvSpPr>
          <p:cNvPr id="21" name="Text 19"/>
          <p:cNvSpPr/>
          <p:nvPr/>
        </p:nvSpPr>
        <p:spPr>
          <a:xfrm>
            <a:off x="777240" y="3374136"/>
            <a:ext cx="3611880" cy="201168"/>
          </a:xfrm>
          <a:prstGeom prst="rect">
            <a:avLst/>
          </a:prstGeom>
          <a:noFill/>
          <a:ln/>
        </p:spPr>
        <p:txBody>
          <a:bodyPr wrap="square" lIns="0" tIns="0" rIns="0" bIns="0" rtlCol="0" anchor="ctr"/>
          <a:lstStyle/>
          <a:p>
            <a:pPr marL="0" indent="0">
              <a:buNone/>
            </a:pPr>
            <a:r>
              <a:rPr lang="en-US" sz="900" dirty="0">
                <a:solidFill>
                  <a:srgbClr val="A8C4D8"/>
                </a:solidFill>
                <a:latin typeface="Trebuchet MS" pitchFamily="34" charset="0"/>
                <a:ea typeface="Trebuchet MS" pitchFamily="34" charset="-122"/>
                <a:cs typeface="Trebuchet MS" pitchFamily="34" charset="-120"/>
              </a:rPr>
              <a:t>Urgent, fraud, and security language triggers human review</a:t>
            </a:r>
            <a:endParaRPr lang="en-US" sz="900" dirty="0"/>
          </a:p>
        </p:txBody>
      </p:sp>
      <p:sp>
        <p:nvSpPr>
          <p:cNvPr id="22" name="Shape 20"/>
          <p:cNvSpPr/>
          <p:nvPr/>
        </p:nvSpPr>
        <p:spPr>
          <a:xfrm>
            <a:off x="4754880" y="914400"/>
            <a:ext cx="4023360" cy="173736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23" name="Shape 21"/>
          <p:cNvSpPr/>
          <p:nvPr/>
        </p:nvSpPr>
        <p:spPr>
          <a:xfrm>
            <a:off x="4754880" y="914400"/>
            <a:ext cx="64008" cy="1737360"/>
          </a:xfrm>
          <a:prstGeom prst="rect">
            <a:avLst/>
          </a:prstGeom>
          <a:solidFill>
            <a:srgbClr val="FF6B6B"/>
          </a:solidFill>
          <a:ln w="12700">
            <a:solidFill>
              <a:srgbClr val="000000"/>
            </a:solidFill>
            <a:prstDash val="solid"/>
          </a:ln>
        </p:spPr>
        <p:txBody>
          <a:bodyPr/>
          <a:lstStyle/>
          <a:p>
            <a:endParaRPr lang="en-AU"/>
          </a:p>
        </p:txBody>
      </p:sp>
      <p:sp>
        <p:nvSpPr>
          <p:cNvPr id="24" name="Text 22"/>
          <p:cNvSpPr/>
          <p:nvPr/>
        </p:nvSpPr>
        <p:spPr>
          <a:xfrm>
            <a:off x="4956048" y="100584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LIMITATIONS</a:t>
            </a:r>
            <a:endParaRPr lang="en-US" sz="1100" dirty="0"/>
          </a:p>
        </p:txBody>
      </p:sp>
      <p:sp>
        <p:nvSpPr>
          <p:cNvPr id="25" name="Shape 23"/>
          <p:cNvSpPr/>
          <p:nvPr/>
        </p:nvSpPr>
        <p:spPr>
          <a:xfrm>
            <a:off x="5010912" y="1435608"/>
            <a:ext cx="109728" cy="109728"/>
          </a:xfrm>
          <a:prstGeom prst="ellipse">
            <a:avLst/>
          </a:prstGeom>
          <a:solidFill>
            <a:srgbClr val="FF6B6B"/>
          </a:solidFill>
          <a:ln w="12700">
            <a:solidFill>
              <a:srgbClr val="000000"/>
            </a:solidFill>
            <a:prstDash val="solid"/>
          </a:ln>
        </p:spPr>
        <p:txBody>
          <a:bodyPr/>
          <a:lstStyle/>
          <a:p>
            <a:endParaRPr lang="en-AU"/>
          </a:p>
        </p:txBody>
      </p:sp>
      <p:sp>
        <p:nvSpPr>
          <p:cNvPr id="26" name="Text 24"/>
          <p:cNvSpPr/>
          <p:nvPr/>
        </p:nvSpPr>
        <p:spPr>
          <a:xfrm>
            <a:off x="5230368" y="1399032"/>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Moderate macro F1 — predictions are first-pass only</a:t>
            </a:r>
            <a:endParaRPr lang="en-US" sz="900" dirty="0"/>
          </a:p>
        </p:txBody>
      </p:sp>
      <p:sp>
        <p:nvSpPr>
          <p:cNvPr id="27" name="Shape 25"/>
          <p:cNvSpPr/>
          <p:nvPr/>
        </p:nvSpPr>
        <p:spPr>
          <a:xfrm>
            <a:off x="5010912" y="1737360"/>
            <a:ext cx="109728" cy="109728"/>
          </a:xfrm>
          <a:prstGeom prst="ellipse">
            <a:avLst/>
          </a:prstGeom>
          <a:solidFill>
            <a:srgbClr val="FF6B6B"/>
          </a:solidFill>
          <a:ln w="12700">
            <a:solidFill>
              <a:srgbClr val="000000"/>
            </a:solidFill>
            <a:prstDash val="solid"/>
          </a:ln>
        </p:spPr>
        <p:txBody>
          <a:bodyPr/>
          <a:lstStyle/>
          <a:p>
            <a:endParaRPr lang="en-AU"/>
          </a:p>
        </p:txBody>
      </p:sp>
      <p:sp>
        <p:nvSpPr>
          <p:cNvPr id="28" name="Text 26"/>
          <p:cNvSpPr/>
          <p:nvPr/>
        </p:nvSpPr>
        <p:spPr>
          <a:xfrm>
            <a:off x="5230368" y="1700784"/>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Multilingual class imbalance affects some languages</a:t>
            </a:r>
            <a:endParaRPr lang="en-US" sz="900" dirty="0"/>
          </a:p>
        </p:txBody>
      </p:sp>
      <p:sp>
        <p:nvSpPr>
          <p:cNvPr id="29" name="Shape 27"/>
          <p:cNvSpPr/>
          <p:nvPr/>
        </p:nvSpPr>
        <p:spPr>
          <a:xfrm>
            <a:off x="5010912" y="2039112"/>
            <a:ext cx="109728" cy="109728"/>
          </a:xfrm>
          <a:prstGeom prst="ellipse">
            <a:avLst/>
          </a:prstGeom>
          <a:solidFill>
            <a:srgbClr val="FF6B6B"/>
          </a:solidFill>
          <a:ln w="12700">
            <a:solidFill>
              <a:srgbClr val="000000"/>
            </a:solidFill>
            <a:prstDash val="solid"/>
          </a:ln>
        </p:spPr>
        <p:txBody>
          <a:bodyPr/>
          <a:lstStyle/>
          <a:p>
            <a:endParaRPr lang="en-AU"/>
          </a:p>
        </p:txBody>
      </p:sp>
      <p:sp>
        <p:nvSpPr>
          <p:cNvPr id="30" name="Text 28"/>
          <p:cNvSpPr/>
          <p:nvPr/>
        </p:nvSpPr>
        <p:spPr>
          <a:xfrm>
            <a:off x="5230368" y="2002536"/>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Overlapping category wording increases confusion</a:t>
            </a:r>
            <a:endParaRPr lang="en-US" sz="900" dirty="0"/>
          </a:p>
        </p:txBody>
      </p:sp>
      <p:sp>
        <p:nvSpPr>
          <p:cNvPr id="31" name="Shape 29"/>
          <p:cNvSpPr/>
          <p:nvPr/>
        </p:nvSpPr>
        <p:spPr>
          <a:xfrm>
            <a:off x="5010912" y="2340864"/>
            <a:ext cx="109728" cy="109728"/>
          </a:xfrm>
          <a:prstGeom prst="ellipse">
            <a:avLst/>
          </a:prstGeom>
          <a:solidFill>
            <a:srgbClr val="FF6B6B"/>
          </a:solidFill>
          <a:ln w="12700">
            <a:solidFill>
              <a:srgbClr val="000000"/>
            </a:solidFill>
            <a:prstDash val="solid"/>
          </a:ln>
        </p:spPr>
        <p:txBody>
          <a:bodyPr/>
          <a:lstStyle/>
          <a:p>
            <a:endParaRPr lang="en-AU"/>
          </a:p>
        </p:txBody>
      </p:sp>
      <p:sp>
        <p:nvSpPr>
          <p:cNvPr id="32" name="Text 30"/>
          <p:cNvSpPr/>
          <p:nvPr/>
        </p:nvSpPr>
        <p:spPr>
          <a:xfrm>
            <a:off x="5230368" y="2304288"/>
            <a:ext cx="3337560" cy="27432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TF-IDF may miss deeper semantic context vs transformers</a:t>
            </a:r>
            <a:endParaRPr lang="en-US" sz="900" dirty="0"/>
          </a:p>
        </p:txBody>
      </p:sp>
      <p:sp>
        <p:nvSpPr>
          <p:cNvPr id="33" name="Shape 31"/>
          <p:cNvSpPr/>
          <p:nvPr/>
        </p:nvSpPr>
        <p:spPr>
          <a:xfrm>
            <a:off x="4754880" y="2788920"/>
            <a:ext cx="4023360" cy="187452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34" name="Shape 32"/>
          <p:cNvSpPr/>
          <p:nvPr/>
        </p:nvSpPr>
        <p:spPr>
          <a:xfrm>
            <a:off x="4754880" y="2788920"/>
            <a:ext cx="64008" cy="1874520"/>
          </a:xfrm>
          <a:prstGeom prst="rect">
            <a:avLst/>
          </a:prstGeom>
          <a:solidFill>
            <a:srgbClr val="14B8A6"/>
          </a:solidFill>
          <a:ln w="12700">
            <a:solidFill>
              <a:srgbClr val="000000"/>
            </a:solidFill>
            <a:prstDash val="solid"/>
          </a:ln>
        </p:spPr>
        <p:txBody>
          <a:bodyPr/>
          <a:lstStyle/>
          <a:p>
            <a:endParaRPr lang="en-AU"/>
          </a:p>
        </p:txBody>
      </p:sp>
      <p:sp>
        <p:nvSpPr>
          <p:cNvPr id="35" name="Text 33"/>
          <p:cNvSpPr/>
          <p:nvPr/>
        </p:nvSpPr>
        <p:spPr>
          <a:xfrm>
            <a:off x="4956048" y="2880360"/>
            <a:ext cx="347472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FUTURE WORK</a:t>
            </a:r>
            <a:endParaRPr lang="en-US" sz="1100" dirty="0"/>
          </a:p>
        </p:txBody>
      </p:sp>
      <p:sp>
        <p:nvSpPr>
          <p:cNvPr id="36" name="Shape 34"/>
          <p:cNvSpPr/>
          <p:nvPr/>
        </p:nvSpPr>
        <p:spPr>
          <a:xfrm>
            <a:off x="5010912" y="3300984"/>
            <a:ext cx="109728" cy="109728"/>
          </a:xfrm>
          <a:prstGeom prst="ellipse">
            <a:avLst/>
          </a:prstGeom>
          <a:solidFill>
            <a:srgbClr val="14B8A6"/>
          </a:solidFill>
          <a:ln w="12700">
            <a:solidFill>
              <a:srgbClr val="000000"/>
            </a:solidFill>
            <a:prstDash val="solid"/>
          </a:ln>
        </p:spPr>
        <p:txBody>
          <a:bodyPr/>
          <a:lstStyle/>
          <a:p>
            <a:endParaRPr lang="en-AU"/>
          </a:p>
        </p:txBody>
      </p:sp>
      <p:sp>
        <p:nvSpPr>
          <p:cNvPr id="37" name="Text 35"/>
          <p:cNvSpPr/>
          <p:nvPr/>
        </p:nvSpPr>
        <p:spPr>
          <a:xfrm>
            <a:off x="5230368" y="326440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Transformer embeddings (BERT, multilingual models)</a:t>
            </a:r>
            <a:endParaRPr lang="en-US" sz="900" dirty="0"/>
          </a:p>
        </p:txBody>
      </p:sp>
      <p:sp>
        <p:nvSpPr>
          <p:cNvPr id="38" name="Shape 36"/>
          <p:cNvSpPr/>
          <p:nvPr/>
        </p:nvSpPr>
        <p:spPr>
          <a:xfrm>
            <a:off x="5010912" y="3575304"/>
            <a:ext cx="109728" cy="109728"/>
          </a:xfrm>
          <a:prstGeom prst="ellipse">
            <a:avLst/>
          </a:prstGeom>
          <a:solidFill>
            <a:srgbClr val="14B8A6"/>
          </a:solidFill>
          <a:ln w="12700">
            <a:solidFill>
              <a:srgbClr val="000000"/>
            </a:solidFill>
            <a:prstDash val="solid"/>
          </a:ln>
        </p:spPr>
        <p:txBody>
          <a:bodyPr/>
          <a:lstStyle/>
          <a:p>
            <a:endParaRPr lang="en-AU"/>
          </a:p>
        </p:txBody>
      </p:sp>
      <p:sp>
        <p:nvSpPr>
          <p:cNvPr id="39" name="Text 37"/>
          <p:cNvSpPr/>
          <p:nvPr/>
        </p:nvSpPr>
        <p:spPr>
          <a:xfrm>
            <a:off x="5230368" y="353872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Confidence calibration for uncertainty estimates</a:t>
            </a:r>
            <a:endParaRPr lang="en-US" sz="900" dirty="0"/>
          </a:p>
        </p:txBody>
      </p:sp>
      <p:sp>
        <p:nvSpPr>
          <p:cNvPr id="40" name="Shape 38"/>
          <p:cNvSpPr/>
          <p:nvPr/>
        </p:nvSpPr>
        <p:spPr>
          <a:xfrm>
            <a:off x="5010912" y="3849624"/>
            <a:ext cx="109728" cy="109728"/>
          </a:xfrm>
          <a:prstGeom prst="ellipse">
            <a:avLst/>
          </a:prstGeom>
          <a:solidFill>
            <a:srgbClr val="14B8A6"/>
          </a:solidFill>
          <a:ln w="12700">
            <a:solidFill>
              <a:srgbClr val="000000"/>
            </a:solidFill>
            <a:prstDash val="solid"/>
          </a:ln>
        </p:spPr>
        <p:txBody>
          <a:bodyPr/>
          <a:lstStyle/>
          <a:p>
            <a:endParaRPr lang="en-AU"/>
          </a:p>
        </p:txBody>
      </p:sp>
      <p:sp>
        <p:nvSpPr>
          <p:cNvPr id="41" name="Text 39"/>
          <p:cNvSpPr/>
          <p:nvPr/>
        </p:nvSpPr>
        <p:spPr>
          <a:xfrm>
            <a:off x="5230368" y="381304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Active learning from agent correction feedback</a:t>
            </a:r>
            <a:endParaRPr lang="en-US" sz="900" dirty="0"/>
          </a:p>
        </p:txBody>
      </p:sp>
      <p:sp>
        <p:nvSpPr>
          <p:cNvPr id="42" name="Shape 40"/>
          <p:cNvSpPr/>
          <p:nvPr/>
        </p:nvSpPr>
        <p:spPr>
          <a:xfrm>
            <a:off x="5010912" y="4123944"/>
            <a:ext cx="109728" cy="109728"/>
          </a:xfrm>
          <a:prstGeom prst="ellipse">
            <a:avLst/>
          </a:prstGeom>
          <a:solidFill>
            <a:srgbClr val="14B8A6"/>
          </a:solidFill>
          <a:ln w="12700">
            <a:solidFill>
              <a:srgbClr val="000000"/>
            </a:solidFill>
            <a:prstDash val="solid"/>
          </a:ln>
        </p:spPr>
        <p:txBody>
          <a:bodyPr/>
          <a:lstStyle/>
          <a:p>
            <a:endParaRPr lang="en-AU"/>
          </a:p>
        </p:txBody>
      </p:sp>
      <p:sp>
        <p:nvSpPr>
          <p:cNvPr id="43" name="Text 41"/>
          <p:cNvSpPr/>
          <p:nvPr/>
        </p:nvSpPr>
        <p:spPr>
          <a:xfrm>
            <a:off x="5230368" y="408736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Stronger privacy redaction pipeline</a:t>
            </a:r>
            <a:endParaRPr lang="en-US" sz="900" dirty="0"/>
          </a:p>
        </p:txBody>
      </p:sp>
      <p:sp>
        <p:nvSpPr>
          <p:cNvPr id="44" name="Shape 42"/>
          <p:cNvSpPr/>
          <p:nvPr/>
        </p:nvSpPr>
        <p:spPr>
          <a:xfrm>
            <a:off x="5010912" y="4398264"/>
            <a:ext cx="109728" cy="109728"/>
          </a:xfrm>
          <a:prstGeom prst="ellipse">
            <a:avLst/>
          </a:prstGeom>
          <a:solidFill>
            <a:srgbClr val="14B8A6"/>
          </a:solidFill>
          <a:ln w="12700">
            <a:solidFill>
              <a:srgbClr val="000000"/>
            </a:solidFill>
            <a:prstDash val="solid"/>
          </a:ln>
        </p:spPr>
        <p:txBody>
          <a:bodyPr/>
          <a:lstStyle/>
          <a:p>
            <a:endParaRPr lang="en-AU"/>
          </a:p>
        </p:txBody>
      </p:sp>
      <p:sp>
        <p:nvSpPr>
          <p:cNvPr id="45" name="Text 43"/>
          <p:cNvSpPr/>
          <p:nvPr/>
        </p:nvSpPr>
        <p:spPr>
          <a:xfrm>
            <a:off x="5230368" y="4361688"/>
            <a:ext cx="3337560" cy="246888"/>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SLA-aware escalation + ticketing system integration</a:t>
            </a:r>
            <a:endParaRPr lang="en-US" sz="900" dirty="0"/>
          </a:p>
        </p:txBody>
      </p:sp>
      <p:sp>
        <p:nvSpPr>
          <p:cNvPr id="46" name="Shape 44"/>
          <p:cNvSpPr/>
          <p:nvPr/>
        </p:nvSpPr>
        <p:spPr>
          <a:xfrm>
            <a:off x="365760" y="3886200"/>
            <a:ext cx="4160520" cy="914400"/>
          </a:xfrm>
          <a:prstGeom prst="rect">
            <a:avLst/>
          </a:prstGeom>
          <a:solidFill>
            <a:srgbClr val="1A2F4A"/>
          </a:solidFill>
          <a:ln w="6350">
            <a:solidFill>
              <a:srgbClr val="1E3A5F"/>
            </a:solidFill>
            <a:prstDash val="solid"/>
          </a:ln>
          <a:effectLst>
            <a:outerShdw blurRad="101600" dist="38100" dir="8100000" algn="bl" rotWithShape="0">
              <a:srgbClr val="000000">
                <a:alpha val="25000"/>
              </a:srgbClr>
            </a:outerShdw>
          </a:effectLst>
        </p:spPr>
        <p:txBody>
          <a:bodyPr/>
          <a:lstStyle/>
          <a:p>
            <a:endParaRPr lang="en-AU"/>
          </a:p>
        </p:txBody>
      </p:sp>
      <p:sp>
        <p:nvSpPr>
          <p:cNvPr id="47" name="Shape 45"/>
          <p:cNvSpPr/>
          <p:nvPr/>
        </p:nvSpPr>
        <p:spPr>
          <a:xfrm>
            <a:off x="365760" y="3886200"/>
            <a:ext cx="64008" cy="914400"/>
          </a:xfrm>
          <a:prstGeom prst="rect">
            <a:avLst/>
          </a:prstGeom>
          <a:solidFill>
            <a:srgbClr val="F5C842"/>
          </a:solidFill>
          <a:ln w="12700">
            <a:solidFill>
              <a:srgbClr val="000000"/>
            </a:solidFill>
            <a:prstDash val="solid"/>
          </a:ln>
        </p:spPr>
        <p:txBody>
          <a:bodyPr/>
          <a:lstStyle/>
          <a:p>
            <a:endParaRPr lang="en-AU"/>
          </a:p>
        </p:txBody>
      </p:sp>
      <p:sp>
        <p:nvSpPr>
          <p:cNvPr id="48" name="Text 46"/>
          <p:cNvSpPr/>
          <p:nvPr/>
        </p:nvSpPr>
        <p:spPr>
          <a:xfrm>
            <a:off x="566928" y="3977640"/>
            <a:ext cx="365760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SCALABILITY PATH</a:t>
            </a:r>
            <a:endParaRPr lang="en-US" sz="1100" dirty="0"/>
          </a:p>
        </p:txBody>
      </p:sp>
      <p:sp>
        <p:nvSpPr>
          <p:cNvPr id="49" name="Text 47"/>
          <p:cNvSpPr/>
          <p:nvPr/>
        </p:nvSpPr>
        <p:spPr>
          <a:xfrm>
            <a:off x="566928" y="4279392"/>
            <a:ext cx="3749040" cy="457200"/>
          </a:xfrm>
          <a:prstGeom prst="rect">
            <a:avLst/>
          </a:prstGeom>
          <a:noFill/>
          <a:ln/>
        </p:spPr>
        <p:txBody>
          <a:bodyPr wrap="square" lIns="0" tIns="0" rIns="0" bIns="0" rtlCol="0" anchor="ctr"/>
          <a:lstStyle/>
          <a:p>
            <a:pPr marL="0" indent="0">
              <a:buNone/>
            </a:pPr>
            <a:r>
              <a:rPr lang="en-US" sz="900" dirty="0">
                <a:solidFill>
                  <a:srgbClr val="E8F4F8"/>
                </a:solidFill>
                <a:latin typeface="Trebuchet MS" pitchFamily="34" charset="0"/>
                <a:ea typeface="Trebuchet MS" pitchFamily="34" charset="-122"/>
                <a:cs typeface="Trebuchet MS" pitchFamily="34" charset="-120"/>
              </a:rPr>
              <a:t>Current system processes single or batch CSV/Excel tickets. Production readiness would require REST API wrapping, SLA integration, real-time stream ingestion, and more balanced multilingual training data.</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2240"/>
        </a:solidFill>
        <a:effectLst/>
      </p:bgPr>
    </p:bg>
    <p:spTree>
      <p:nvGrpSpPr>
        <p:cNvPr id="1" name="">
          <a:extLst>
            <a:ext uri="{FF2B5EF4-FFF2-40B4-BE49-F238E27FC236}">
              <a16:creationId xmlns:a16="http://schemas.microsoft.com/office/drawing/2014/main" id="{A62676E9-A6B1-FCC3-50A0-A47EB08A0DF0}"/>
            </a:ext>
          </a:extLst>
        </p:cNvPr>
        <p:cNvGrpSpPr/>
        <p:nvPr/>
      </p:nvGrpSpPr>
      <p:grpSpPr>
        <a:xfrm>
          <a:off x="0" y="0"/>
          <a:ext cx="0" cy="0"/>
          <a:chOff x="0" y="0"/>
          <a:chExt cx="0" cy="0"/>
        </a:xfrm>
      </p:grpSpPr>
      <p:sp>
        <p:nvSpPr>
          <p:cNvPr id="26" name="Shape 0"/>
          <p:cNvSpPr/>
          <p:nvPr/>
        </p:nvSpPr>
        <p:spPr>
          <a:xfrm>
            <a:off x="0" y="0"/>
            <a:ext cx="9144000" cy="164592"/>
          </a:xfrm>
          <a:prstGeom prst="rect">
            <a:avLst/>
          </a:prstGeom>
          <a:solidFill>
            <a:srgbClr val="00C9B8"/>
          </a:solidFill>
          <a:ln w="12700">
            <a:solidFill>
              <a:srgbClr val="000000"/>
            </a:solidFill>
            <a:prstDash val="solid"/>
          </a:ln>
        </p:spPr>
        <p:txBody>
          <a:bodyPr/>
          <a:lstStyle/>
          <a:p>
            <a:endParaRPr lang="en-AU"/>
          </a:p>
        </p:txBody>
      </p:sp>
      <p:sp>
        <p:nvSpPr>
          <p:cNvPr id="27" name="Shape 1"/>
          <p:cNvSpPr/>
          <p:nvPr/>
        </p:nvSpPr>
        <p:spPr>
          <a:xfrm>
            <a:off x="0" y="4983480"/>
            <a:ext cx="9144000" cy="164592"/>
          </a:xfrm>
          <a:prstGeom prst="rect">
            <a:avLst/>
          </a:prstGeom>
          <a:solidFill>
            <a:srgbClr val="FF6B6B"/>
          </a:solidFill>
          <a:ln w="12700">
            <a:solidFill>
              <a:srgbClr val="000000"/>
            </a:solidFill>
            <a:prstDash val="solid"/>
          </a:ln>
        </p:spPr>
        <p:txBody>
          <a:bodyPr/>
          <a:lstStyle/>
          <a:p>
            <a:endParaRPr lang="en-AU"/>
          </a:p>
        </p:txBody>
      </p:sp>
      <p:sp>
        <p:nvSpPr>
          <p:cNvPr id="28" name="Shape 2"/>
          <p:cNvSpPr/>
          <p:nvPr/>
        </p:nvSpPr>
        <p:spPr>
          <a:xfrm>
            <a:off x="1371600" y="594360"/>
            <a:ext cx="6400800" cy="4160520"/>
          </a:xfrm>
          <a:prstGeom prst="rect">
            <a:avLst/>
          </a:prstGeom>
          <a:solidFill>
            <a:srgbClr val="112240"/>
          </a:solidFill>
          <a:ln w="6350">
            <a:solidFill>
              <a:srgbClr val="1A2F4A"/>
            </a:solidFill>
            <a:prstDash val="solid"/>
          </a:ln>
          <a:effectLst>
            <a:outerShdw blurRad="254000" dist="63500" dir="8100000" algn="bl" rotWithShape="0">
              <a:srgbClr val="000000">
                <a:alpha val="30000"/>
              </a:srgbClr>
            </a:outerShdw>
          </a:effectLst>
        </p:spPr>
        <p:txBody>
          <a:bodyPr/>
          <a:lstStyle/>
          <a:p>
            <a:endParaRPr lang="en-AU"/>
          </a:p>
        </p:txBody>
      </p:sp>
      <p:sp>
        <p:nvSpPr>
          <p:cNvPr id="29" name="Text 3"/>
          <p:cNvSpPr/>
          <p:nvPr/>
        </p:nvSpPr>
        <p:spPr>
          <a:xfrm>
            <a:off x="1371600" y="960120"/>
            <a:ext cx="6400800" cy="914400"/>
          </a:xfrm>
          <a:prstGeom prst="rect">
            <a:avLst/>
          </a:prstGeom>
          <a:noFill/>
          <a:ln/>
        </p:spPr>
        <p:txBody>
          <a:bodyPr wrap="square" lIns="0" tIns="0" rIns="0" bIns="0" rtlCol="0" anchor="ctr"/>
          <a:lstStyle/>
          <a:p>
            <a:pPr marL="0" indent="0" algn="ctr">
              <a:buNone/>
            </a:pPr>
            <a:r>
              <a:rPr lang="en-US" sz="5200" b="1" dirty="0">
                <a:solidFill>
                  <a:srgbClr val="FFFFFF"/>
                </a:solidFill>
                <a:latin typeface="Trebuchet MS" pitchFamily="34" charset="0"/>
                <a:ea typeface="Trebuchet MS" pitchFamily="34" charset="-122"/>
                <a:cs typeface="Trebuchet MS" pitchFamily="34" charset="-120"/>
              </a:rPr>
              <a:t>Thank You</a:t>
            </a:r>
            <a:endParaRPr lang="en-US" sz="5200" dirty="0"/>
          </a:p>
        </p:txBody>
      </p:sp>
      <p:sp>
        <p:nvSpPr>
          <p:cNvPr id="30" name="Shape 4"/>
          <p:cNvSpPr/>
          <p:nvPr/>
        </p:nvSpPr>
        <p:spPr>
          <a:xfrm>
            <a:off x="3474720" y="1938528"/>
            <a:ext cx="2194560" cy="45720"/>
          </a:xfrm>
          <a:prstGeom prst="rect">
            <a:avLst/>
          </a:prstGeom>
          <a:solidFill>
            <a:srgbClr val="00C9B8"/>
          </a:solidFill>
          <a:ln w="12700">
            <a:solidFill>
              <a:srgbClr val="000000"/>
            </a:solidFill>
            <a:prstDash val="solid"/>
          </a:ln>
        </p:spPr>
        <p:txBody>
          <a:bodyPr/>
          <a:lstStyle/>
          <a:p>
            <a:endParaRPr lang="en-AU"/>
          </a:p>
        </p:txBody>
      </p:sp>
      <p:sp>
        <p:nvSpPr>
          <p:cNvPr id="31" name="Text 5"/>
          <p:cNvSpPr/>
          <p:nvPr/>
        </p:nvSpPr>
        <p:spPr>
          <a:xfrm>
            <a:off x="1371600" y="2103120"/>
            <a:ext cx="6400800" cy="502920"/>
          </a:xfrm>
          <a:prstGeom prst="rect">
            <a:avLst/>
          </a:prstGeom>
          <a:noFill/>
          <a:ln/>
        </p:spPr>
        <p:txBody>
          <a:bodyPr wrap="square" lIns="0" tIns="0" rIns="0" bIns="0" rtlCol="0" anchor="ctr"/>
          <a:lstStyle/>
          <a:p>
            <a:pPr marL="0" indent="0" algn="ctr">
              <a:buNone/>
            </a:pPr>
            <a:r>
              <a:rPr lang="en-US" sz="2200" dirty="0">
                <a:solidFill>
                  <a:srgbClr val="00C9B8"/>
                </a:solidFill>
                <a:latin typeface="Trebuchet MS" pitchFamily="34" charset="0"/>
                <a:ea typeface="Trebuchet MS" pitchFamily="34" charset="-122"/>
                <a:cs typeface="Trebuchet MS" pitchFamily="34" charset="-120"/>
              </a:rPr>
              <a:t>Questions &amp; Discussion</a:t>
            </a:r>
            <a:endParaRPr lang="en-US" sz="2200" dirty="0"/>
          </a:p>
        </p:txBody>
      </p:sp>
      <p:sp>
        <p:nvSpPr>
          <p:cNvPr id="32" name="Shape 6"/>
          <p:cNvSpPr/>
          <p:nvPr/>
        </p:nvSpPr>
        <p:spPr>
          <a:xfrm>
            <a:off x="1508760" y="2743200"/>
            <a:ext cx="1920240" cy="1554480"/>
          </a:xfrm>
          <a:prstGeom prst="rect">
            <a:avLst/>
          </a:prstGeom>
          <a:solidFill>
            <a:srgbClr val="1A2F4A"/>
          </a:solidFill>
          <a:ln w="6350">
            <a:solidFill>
              <a:srgbClr val="1E3A5F"/>
            </a:solidFill>
            <a:prstDash val="solid"/>
          </a:ln>
        </p:spPr>
        <p:txBody>
          <a:bodyPr/>
          <a:lstStyle/>
          <a:p>
            <a:endParaRPr lang="en-AU"/>
          </a:p>
        </p:txBody>
      </p:sp>
      <p:sp>
        <p:nvSpPr>
          <p:cNvPr id="33" name="Shape 7"/>
          <p:cNvSpPr/>
          <p:nvPr/>
        </p:nvSpPr>
        <p:spPr>
          <a:xfrm>
            <a:off x="1508760" y="2743200"/>
            <a:ext cx="1920240" cy="54864"/>
          </a:xfrm>
          <a:prstGeom prst="rect">
            <a:avLst/>
          </a:prstGeom>
          <a:solidFill>
            <a:srgbClr val="00C9B8"/>
          </a:solidFill>
          <a:ln w="12700">
            <a:solidFill>
              <a:srgbClr val="000000"/>
            </a:solidFill>
            <a:prstDash val="solid"/>
          </a:ln>
        </p:spPr>
        <p:txBody>
          <a:bodyPr/>
          <a:lstStyle/>
          <a:p>
            <a:endParaRPr lang="en-AU"/>
          </a:p>
        </p:txBody>
      </p:sp>
      <p:sp>
        <p:nvSpPr>
          <p:cNvPr id="34" name="Text 8"/>
          <p:cNvSpPr/>
          <p:nvPr/>
        </p:nvSpPr>
        <p:spPr>
          <a:xfrm>
            <a:off x="1600200" y="28346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Why Linear SVM?</a:t>
            </a:r>
            <a:endParaRPr lang="en-US" sz="900" dirty="0"/>
          </a:p>
        </p:txBody>
      </p:sp>
      <p:sp>
        <p:nvSpPr>
          <p:cNvPr id="35" name="Text 9"/>
          <p:cNvSpPr/>
          <p:nvPr/>
        </p:nvSpPr>
        <p:spPr>
          <a:xfrm>
            <a:off x="1600200" y="32004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Best macro F1 on validation; handles sparse TF-IDF features well</a:t>
            </a:r>
            <a:endParaRPr lang="en-US" sz="850" dirty="0"/>
          </a:p>
        </p:txBody>
      </p:sp>
      <p:sp>
        <p:nvSpPr>
          <p:cNvPr id="36" name="Shape 10"/>
          <p:cNvSpPr/>
          <p:nvPr/>
        </p:nvSpPr>
        <p:spPr>
          <a:xfrm>
            <a:off x="3630168" y="2743200"/>
            <a:ext cx="1920240" cy="1554480"/>
          </a:xfrm>
          <a:prstGeom prst="rect">
            <a:avLst/>
          </a:prstGeom>
          <a:solidFill>
            <a:srgbClr val="1A2F4A"/>
          </a:solidFill>
          <a:ln w="6350">
            <a:solidFill>
              <a:srgbClr val="1E3A5F"/>
            </a:solidFill>
            <a:prstDash val="solid"/>
          </a:ln>
        </p:spPr>
        <p:txBody>
          <a:bodyPr/>
          <a:lstStyle/>
          <a:p>
            <a:endParaRPr lang="en-AU"/>
          </a:p>
        </p:txBody>
      </p:sp>
      <p:sp>
        <p:nvSpPr>
          <p:cNvPr id="37" name="Shape 11"/>
          <p:cNvSpPr/>
          <p:nvPr/>
        </p:nvSpPr>
        <p:spPr>
          <a:xfrm>
            <a:off x="3630168" y="2743200"/>
            <a:ext cx="1920240" cy="54864"/>
          </a:xfrm>
          <a:prstGeom prst="rect">
            <a:avLst/>
          </a:prstGeom>
          <a:solidFill>
            <a:srgbClr val="FF6B6B"/>
          </a:solidFill>
          <a:ln w="12700">
            <a:solidFill>
              <a:srgbClr val="000000"/>
            </a:solidFill>
            <a:prstDash val="solid"/>
          </a:ln>
        </p:spPr>
        <p:txBody>
          <a:bodyPr/>
          <a:lstStyle/>
          <a:p>
            <a:endParaRPr lang="en-AU"/>
          </a:p>
        </p:txBody>
      </p:sp>
      <p:sp>
        <p:nvSpPr>
          <p:cNvPr id="38" name="Text 12"/>
          <p:cNvSpPr/>
          <p:nvPr/>
        </p:nvSpPr>
        <p:spPr>
          <a:xfrm>
            <a:off x="3721608" y="28346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Why moderate F1?</a:t>
            </a:r>
            <a:endParaRPr lang="en-US" sz="900" dirty="0"/>
          </a:p>
        </p:txBody>
      </p:sp>
      <p:sp>
        <p:nvSpPr>
          <p:cNvPr id="39" name="Text 13"/>
          <p:cNvSpPr/>
          <p:nvPr/>
        </p:nvSpPr>
        <p:spPr>
          <a:xfrm>
            <a:off x="3721608" y="32004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Overlapping categories + multilingual imbalance — supports human-in-the-loop design</a:t>
            </a:r>
            <a:endParaRPr lang="en-US" sz="850" dirty="0"/>
          </a:p>
        </p:txBody>
      </p:sp>
      <p:sp>
        <p:nvSpPr>
          <p:cNvPr id="40" name="Shape 14"/>
          <p:cNvSpPr/>
          <p:nvPr/>
        </p:nvSpPr>
        <p:spPr>
          <a:xfrm>
            <a:off x="5751576" y="2743200"/>
            <a:ext cx="1920240" cy="1554480"/>
          </a:xfrm>
          <a:prstGeom prst="rect">
            <a:avLst/>
          </a:prstGeom>
          <a:solidFill>
            <a:srgbClr val="1A2F4A"/>
          </a:solidFill>
          <a:ln w="6350">
            <a:solidFill>
              <a:srgbClr val="1E3A5F"/>
            </a:solidFill>
            <a:prstDash val="solid"/>
          </a:ln>
        </p:spPr>
        <p:txBody>
          <a:bodyPr/>
          <a:lstStyle/>
          <a:p>
            <a:endParaRPr lang="en-AU"/>
          </a:p>
        </p:txBody>
      </p:sp>
      <p:sp>
        <p:nvSpPr>
          <p:cNvPr id="41" name="Shape 15"/>
          <p:cNvSpPr/>
          <p:nvPr/>
        </p:nvSpPr>
        <p:spPr>
          <a:xfrm>
            <a:off x="5751576" y="2743200"/>
            <a:ext cx="1920240" cy="54864"/>
          </a:xfrm>
          <a:prstGeom prst="rect">
            <a:avLst/>
          </a:prstGeom>
          <a:solidFill>
            <a:srgbClr val="F5C842"/>
          </a:solidFill>
          <a:ln w="12700">
            <a:solidFill>
              <a:srgbClr val="000000"/>
            </a:solidFill>
            <a:prstDash val="solid"/>
          </a:ln>
        </p:spPr>
        <p:txBody>
          <a:bodyPr/>
          <a:lstStyle/>
          <a:p>
            <a:endParaRPr lang="en-AU"/>
          </a:p>
        </p:txBody>
      </p:sp>
      <p:sp>
        <p:nvSpPr>
          <p:cNvPr id="42" name="Text 16"/>
          <p:cNvSpPr/>
          <p:nvPr/>
        </p:nvSpPr>
        <p:spPr>
          <a:xfrm>
            <a:off x="5843016" y="28346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What makes it responsible?</a:t>
            </a:r>
            <a:endParaRPr lang="en-US" sz="900" dirty="0"/>
          </a:p>
        </p:txBody>
      </p:sp>
      <p:sp>
        <p:nvSpPr>
          <p:cNvPr id="43" name="Text 17"/>
          <p:cNvSpPr/>
          <p:nvPr/>
        </p:nvSpPr>
        <p:spPr>
          <a:xfrm>
            <a:off x="5843016" y="32004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Leakage control, privacy masking, explanation terms, escalation rules, human oversight</a:t>
            </a:r>
            <a:endParaRPr lang="en-US" sz="850" dirty="0"/>
          </a:p>
        </p:txBody>
      </p:sp>
      <p:sp>
        <p:nvSpPr>
          <p:cNvPr id="44" name="Text 18"/>
          <p:cNvSpPr/>
          <p:nvPr/>
        </p:nvSpPr>
        <p:spPr>
          <a:xfrm>
            <a:off x="1371600" y="4407408"/>
            <a:ext cx="6400800" cy="256032"/>
          </a:xfrm>
          <a:prstGeom prst="rect">
            <a:avLst/>
          </a:prstGeom>
          <a:noFill/>
          <a:ln/>
        </p:spPr>
        <p:txBody>
          <a:bodyPr wrap="square" lIns="0" tIns="0" rIns="0" bIns="0" rtlCol="0" anchor="ctr"/>
          <a:lstStyle/>
          <a:p>
            <a:pPr marL="0" indent="0" algn="ctr">
              <a:buNone/>
            </a:pPr>
            <a:r>
              <a:rPr lang="en-US" sz="800" dirty="0">
                <a:solidFill>
                  <a:srgbClr val="8BA8BF"/>
                </a:solidFill>
                <a:latin typeface="Trebuchet MS" pitchFamily="34" charset="0"/>
                <a:ea typeface="Trebuchet MS" pitchFamily="34" charset="-122"/>
                <a:cs typeface="Trebuchet MS" pitchFamily="34" charset="-120"/>
              </a:rPr>
              <a:t>Ticket Routing Intelligence  ·  36121 AI Principles &amp; Applications  ·  AT3  ·  Group 2 </a:t>
            </a:r>
            <a:endParaRPr lang="en-US" sz="800" dirty="0"/>
          </a:p>
        </p:txBody>
      </p:sp>
    </p:spTree>
    <p:extLst>
      <p:ext uri="{BB962C8B-B14F-4D97-AF65-F5344CB8AC3E}">
        <p14:creationId xmlns:p14="http://schemas.microsoft.com/office/powerpoint/2010/main" val="4116482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9">
    <p:bg>
      <p:bgPr>
        <a:solidFill>
          <a:srgbClr val="112240"/>
        </a:solidFill>
        <a:effectLst/>
      </p:bgPr>
    </p:bg>
    <p:spTree>
      <p:nvGrpSpPr>
        <p:cNvPr id="1" name=""/>
        <p:cNvGrpSpPr/>
        <p:nvPr/>
      </p:nvGrpSpPr>
      <p:grpSpPr>
        <a:xfrm>
          <a:off x="0" y="0"/>
          <a:ext cx="0" cy="0"/>
          <a:chOff x="0" y="0"/>
          <a:chExt cx="0" cy="0"/>
        </a:xfrm>
      </p:grpSpPr>
      <p:sp>
        <p:nvSpPr>
          <p:cNvPr id="2" name="Text 0"/>
          <p:cNvSpPr/>
          <p:nvPr/>
        </p:nvSpPr>
        <p:spPr>
          <a:xfrm>
            <a:off x="411480" y="164592"/>
            <a:ext cx="832104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References</a:t>
            </a:r>
            <a:endParaRPr lang="en-US" sz="2600" dirty="0"/>
          </a:p>
        </p:txBody>
      </p:sp>
      <p:sp>
        <p:nvSpPr>
          <p:cNvPr id="3" name="Shape 1"/>
          <p:cNvSpPr/>
          <p:nvPr/>
        </p:nvSpPr>
        <p:spPr>
          <a:xfrm>
            <a:off x="411480" y="731520"/>
            <a:ext cx="8321040" cy="32004"/>
          </a:xfrm>
          <a:prstGeom prst="rect">
            <a:avLst/>
          </a:prstGeom>
          <a:solidFill>
            <a:srgbClr val="00C9B8"/>
          </a:solidFill>
          <a:ln w="12700">
            <a:solidFill>
              <a:srgbClr val="000000"/>
            </a:solidFill>
            <a:prstDash val="solid"/>
          </a:ln>
        </p:spPr>
        <p:txBody>
          <a:bodyPr/>
          <a:lstStyle/>
          <a:p>
            <a:endParaRPr lang="en-AU"/>
          </a:p>
        </p:txBody>
      </p:sp>
      <p:sp>
        <p:nvSpPr>
          <p:cNvPr id="4" name="Text 2"/>
          <p:cNvSpPr/>
          <p:nvPr/>
        </p:nvSpPr>
        <p:spPr>
          <a:xfrm>
            <a:off x="411480" y="819520"/>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DATASET</a:t>
            </a:r>
            <a:endParaRPr lang="en-US" sz="1100" dirty="0"/>
          </a:p>
        </p:txBody>
      </p:sp>
      <p:sp>
        <p:nvSpPr>
          <p:cNvPr id="5" name="Shape 3"/>
          <p:cNvSpPr/>
          <p:nvPr/>
        </p:nvSpPr>
        <p:spPr>
          <a:xfrm>
            <a:off x="438912" y="1202192"/>
            <a:ext cx="109728" cy="109728"/>
          </a:xfrm>
          <a:prstGeom prst="ellipse">
            <a:avLst/>
          </a:prstGeom>
          <a:solidFill>
            <a:srgbClr val="00C9B8"/>
          </a:solidFill>
          <a:ln w="12700">
            <a:solidFill>
              <a:srgbClr val="000000"/>
            </a:solidFill>
            <a:prstDash val="solid"/>
          </a:ln>
        </p:spPr>
        <p:txBody>
          <a:bodyPr/>
          <a:lstStyle/>
          <a:p>
            <a:endParaRPr lang="en-AU"/>
          </a:p>
        </p:txBody>
      </p:sp>
      <p:sp>
        <p:nvSpPr>
          <p:cNvPr id="6" name="Text 4"/>
          <p:cNvSpPr/>
          <p:nvPr/>
        </p:nvSpPr>
        <p:spPr>
          <a:xfrm>
            <a:off x="658368" y="1147328"/>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Bueck, T. (2023). Multilingual Customer Support Tickets. Kaggle. https://www.kaggle.com/datasets/tobiasbueck/multilingual-customer-support-tickets</a:t>
            </a:r>
            <a:endParaRPr lang="en-US" sz="850" dirty="0"/>
          </a:p>
        </p:txBody>
      </p:sp>
      <p:sp>
        <p:nvSpPr>
          <p:cNvPr id="7" name="Text 5"/>
          <p:cNvSpPr/>
          <p:nvPr/>
        </p:nvSpPr>
        <p:spPr>
          <a:xfrm>
            <a:off x="411480" y="1531376"/>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AI METHODS — TEXT CLASSIFICATION</a:t>
            </a:r>
            <a:endParaRPr lang="en-US" sz="1100" dirty="0"/>
          </a:p>
        </p:txBody>
      </p:sp>
      <p:sp>
        <p:nvSpPr>
          <p:cNvPr id="8" name="Shape 6"/>
          <p:cNvSpPr/>
          <p:nvPr/>
        </p:nvSpPr>
        <p:spPr>
          <a:xfrm>
            <a:off x="438912" y="1933712"/>
            <a:ext cx="109728" cy="109728"/>
          </a:xfrm>
          <a:prstGeom prst="ellipse">
            <a:avLst/>
          </a:prstGeom>
          <a:solidFill>
            <a:srgbClr val="00C9B8"/>
          </a:solidFill>
          <a:ln w="12700">
            <a:solidFill>
              <a:srgbClr val="000000"/>
            </a:solidFill>
            <a:prstDash val="solid"/>
          </a:ln>
        </p:spPr>
        <p:txBody>
          <a:bodyPr/>
          <a:lstStyle/>
          <a:p>
            <a:endParaRPr lang="en-AU"/>
          </a:p>
        </p:txBody>
      </p:sp>
      <p:sp>
        <p:nvSpPr>
          <p:cNvPr id="9" name="Text 7"/>
          <p:cNvSpPr/>
          <p:nvPr/>
        </p:nvSpPr>
        <p:spPr>
          <a:xfrm>
            <a:off x="658368" y="1878848"/>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Joachims, T. (1998). Text categorization with support vector machines: Learning with many relevant features. ECML-98.</a:t>
            </a:r>
            <a:endParaRPr lang="en-US" sz="850" dirty="0"/>
          </a:p>
        </p:txBody>
      </p:sp>
      <p:sp>
        <p:nvSpPr>
          <p:cNvPr id="10" name="Shape 8"/>
          <p:cNvSpPr/>
          <p:nvPr/>
        </p:nvSpPr>
        <p:spPr>
          <a:xfrm>
            <a:off x="438912" y="2244608"/>
            <a:ext cx="109728" cy="109728"/>
          </a:xfrm>
          <a:prstGeom prst="ellipse">
            <a:avLst/>
          </a:prstGeom>
          <a:solidFill>
            <a:srgbClr val="00C9B8"/>
          </a:solidFill>
          <a:ln w="12700">
            <a:solidFill>
              <a:srgbClr val="000000"/>
            </a:solidFill>
            <a:prstDash val="solid"/>
          </a:ln>
        </p:spPr>
        <p:txBody>
          <a:bodyPr/>
          <a:lstStyle/>
          <a:p>
            <a:endParaRPr lang="en-AU"/>
          </a:p>
        </p:txBody>
      </p:sp>
      <p:sp>
        <p:nvSpPr>
          <p:cNvPr id="11" name="Text 9"/>
          <p:cNvSpPr/>
          <p:nvPr/>
        </p:nvSpPr>
        <p:spPr>
          <a:xfrm>
            <a:off x="658368" y="2189744"/>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Salton, G., &amp; Buckley, C. (1988). Term-weighting approaches in automatic text retrieval. Information Processing &amp; Management, 24(5), 513–523.</a:t>
            </a:r>
            <a:endParaRPr lang="en-US" sz="850" dirty="0"/>
          </a:p>
        </p:txBody>
      </p:sp>
      <p:sp>
        <p:nvSpPr>
          <p:cNvPr id="12" name="Shape 10"/>
          <p:cNvSpPr/>
          <p:nvPr/>
        </p:nvSpPr>
        <p:spPr>
          <a:xfrm>
            <a:off x="438912" y="2555504"/>
            <a:ext cx="109728" cy="109728"/>
          </a:xfrm>
          <a:prstGeom prst="ellipse">
            <a:avLst/>
          </a:prstGeom>
          <a:solidFill>
            <a:srgbClr val="00C9B8"/>
          </a:solidFill>
          <a:ln w="12700">
            <a:solidFill>
              <a:srgbClr val="000000"/>
            </a:solidFill>
            <a:prstDash val="solid"/>
          </a:ln>
        </p:spPr>
        <p:txBody>
          <a:bodyPr/>
          <a:lstStyle/>
          <a:p>
            <a:endParaRPr lang="en-AU"/>
          </a:p>
        </p:txBody>
      </p:sp>
      <p:sp>
        <p:nvSpPr>
          <p:cNvPr id="13" name="Text 11"/>
          <p:cNvSpPr/>
          <p:nvPr/>
        </p:nvSpPr>
        <p:spPr>
          <a:xfrm>
            <a:off x="658368" y="2500640"/>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Manning, C. D., Raghavan, P., &amp; Schütze, H. (2008). Introduction to Information Retrieval. Cambridge University Press.</a:t>
            </a:r>
            <a:endParaRPr lang="en-US" sz="850" dirty="0"/>
          </a:p>
        </p:txBody>
      </p:sp>
      <p:sp>
        <p:nvSpPr>
          <p:cNvPr id="14" name="Text 12"/>
          <p:cNvSpPr/>
          <p:nvPr/>
        </p:nvSpPr>
        <p:spPr>
          <a:xfrm>
            <a:off x="411480" y="2884688"/>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EXPLAINABILITY &amp; RESPONSIBLE AI</a:t>
            </a:r>
            <a:endParaRPr lang="en-US" sz="1100" dirty="0"/>
          </a:p>
        </p:txBody>
      </p:sp>
      <p:sp>
        <p:nvSpPr>
          <p:cNvPr id="15" name="Shape 13"/>
          <p:cNvSpPr/>
          <p:nvPr/>
        </p:nvSpPr>
        <p:spPr>
          <a:xfrm>
            <a:off x="438912" y="3287024"/>
            <a:ext cx="109728" cy="109728"/>
          </a:xfrm>
          <a:prstGeom prst="ellipse">
            <a:avLst/>
          </a:prstGeom>
          <a:solidFill>
            <a:srgbClr val="00C9B8"/>
          </a:solidFill>
          <a:ln w="12700">
            <a:solidFill>
              <a:srgbClr val="000000"/>
            </a:solidFill>
            <a:prstDash val="solid"/>
          </a:ln>
        </p:spPr>
        <p:txBody>
          <a:bodyPr/>
          <a:lstStyle/>
          <a:p>
            <a:endParaRPr lang="en-AU"/>
          </a:p>
        </p:txBody>
      </p:sp>
      <p:sp>
        <p:nvSpPr>
          <p:cNvPr id="16" name="Text 14"/>
          <p:cNvSpPr/>
          <p:nvPr/>
        </p:nvSpPr>
        <p:spPr>
          <a:xfrm>
            <a:off x="658368" y="3232160"/>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Ribeiro, M. T., Singh, S., &amp; Guestrin, C. (2016). 'Why should I trust you?': Explaining the predictions of any classifier. KDD 2016.</a:t>
            </a:r>
            <a:endParaRPr lang="en-US" sz="850" dirty="0"/>
          </a:p>
        </p:txBody>
      </p:sp>
      <p:sp>
        <p:nvSpPr>
          <p:cNvPr id="17" name="Shape 15"/>
          <p:cNvSpPr/>
          <p:nvPr/>
        </p:nvSpPr>
        <p:spPr>
          <a:xfrm>
            <a:off x="438912" y="3597920"/>
            <a:ext cx="109728" cy="109728"/>
          </a:xfrm>
          <a:prstGeom prst="ellipse">
            <a:avLst/>
          </a:prstGeom>
          <a:solidFill>
            <a:srgbClr val="00C9B8"/>
          </a:solidFill>
          <a:ln w="12700">
            <a:solidFill>
              <a:srgbClr val="000000"/>
            </a:solidFill>
            <a:prstDash val="solid"/>
          </a:ln>
        </p:spPr>
        <p:txBody>
          <a:bodyPr/>
          <a:lstStyle/>
          <a:p>
            <a:endParaRPr lang="en-AU"/>
          </a:p>
        </p:txBody>
      </p:sp>
      <p:sp>
        <p:nvSpPr>
          <p:cNvPr id="18" name="Text 16"/>
          <p:cNvSpPr/>
          <p:nvPr/>
        </p:nvSpPr>
        <p:spPr>
          <a:xfrm>
            <a:off x="658368" y="3543056"/>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Doshi-Velez, F., &amp; Kim, B. (2017). Towards a rigorous science of interpretable machine learning. arXiv:1702.08608.</a:t>
            </a:r>
            <a:endParaRPr lang="en-US" sz="850" dirty="0"/>
          </a:p>
        </p:txBody>
      </p:sp>
      <p:sp>
        <p:nvSpPr>
          <p:cNvPr id="19" name="Shape 17"/>
          <p:cNvSpPr/>
          <p:nvPr/>
        </p:nvSpPr>
        <p:spPr>
          <a:xfrm>
            <a:off x="438912" y="3908816"/>
            <a:ext cx="109728" cy="109728"/>
          </a:xfrm>
          <a:prstGeom prst="ellipse">
            <a:avLst/>
          </a:prstGeom>
          <a:solidFill>
            <a:srgbClr val="00C9B8"/>
          </a:solidFill>
          <a:ln w="12700">
            <a:solidFill>
              <a:srgbClr val="000000"/>
            </a:solidFill>
            <a:prstDash val="solid"/>
          </a:ln>
        </p:spPr>
        <p:txBody>
          <a:bodyPr/>
          <a:lstStyle/>
          <a:p>
            <a:endParaRPr lang="en-AU"/>
          </a:p>
        </p:txBody>
      </p:sp>
      <p:sp>
        <p:nvSpPr>
          <p:cNvPr id="20" name="Text 18"/>
          <p:cNvSpPr/>
          <p:nvPr/>
        </p:nvSpPr>
        <p:spPr>
          <a:xfrm>
            <a:off x="658368" y="3853952"/>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Jobin, A., Ienca, M., &amp; Vayena, E. (2019). The global landscape of AI ethics guidelines. Nature Machine Intelligence, 1, 389–399.</a:t>
            </a:r>
            <a:endParaRPr lang="en-US" sz="850" dirty="0"/>
          </a:p>
        </p:txBody>
      </p:sp>
      <p:sp>
        <p:nvSpPr>
          <p:cNvPr id="21" name="Text 19"/>
          <p:cNvSpPr/>
          <p:nvPr/>
        </p:nvSpPr>
        <p:spPr>
          <a:xfrm>
            <a:off x="411480" y="4238000"/>
            <a:ext cx="8321040" cy="411480"/>
          </a:xfrm>
          <a:prstGeom prst="rect">
            <a:avLst/>
          </a:prstGeom>
          <a:noFill/>
          <a:ln/>
        </p:spPr>
        <p:txBody>
          <a:bodyPr wrap="square" lIns="0" tIns="0" rIns="0" bIns="0" rtlCol="0" anchor="ctr"/>
          <a:lstStyle/>
          <a:p>
            <a:pPr marL="0" indent="0" algn="l">
              <a:buNone/>
            </a:pPr>
            <a:r>
              <a:rPr lang="en-US" sz="1100" b="1" kern="0" spc="200" dirty="0">
                <a:solidFill>
                  <a:srgbClr val="00C9B8"/>
                </a:solidFill>
                <a:latin typeface="Trebuchet MS" pitchFamily="34" charset="0"/>
                <a:ea typeface="Trebuchet MS" pitchFamily="34" charset="-122"/>
                <a:cs typeface="Trebuchet MS" pitchFamily="34" charset="-120"/>
              </a:rPr>
              <a:t>BUSINESS CONTEXT (VERIFY BEFORE SUBMISSION)</a:t>
            </a:r>
            <a:endParaRPr lang="en-US" sz="1100" dirty="0"/>
          </a:p>
        </p:txBody>
      </p:sp>
      <p:sp>
        <p:nvSpPr>
          <p:cNvPr id="22" name="Shape 20"/>
          <p:cNvSpPr/>
          <p:nvPr/>
        </p:nvSpPr>
        <p:spPr>
          <a:xfrm>
            <a:off x="438912" y="4640336"/>
            <a:ext cx="109728" cy="109728"/>
          </a:xfrm>
          <a:prstGeom prst="ellipse">
            <a:avLst/>
          </a:prstGeom>
          <a:solidFill>
            <a:srgbClr val="00C9B8"/>
          </a:solidFill>
          <a:ln w="12700">
            <a:solidFill>
              <a:srgbClr val="000000"/>
            </a:solidFill>
            <a:prstDash val="solid"/>
          </a:ln>
        </p:spPr>
        <p:txBody>
          <a:bodyPr/>
          <a:lstStyle/>
          <a:p>
            <a:endParaRPr lang="en-AU"/>
          </a:p>
        </p:txBody>
      </p:sp>
      <p:sp>
        <p:nvSpPr>
          <p:cNvPr id="23" name="Text 21"/>
          <p:cNvSpPr/>
          <p:nvPr/>
        </p:nvSpPr>
        <p:spPr>
          <a:xfrm>
            <a:off x="658368" y="4585472"/>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Salesforce. (2023). State of Service Report. https://www.salesforce.com/resources/articles/customer-service-stats/</a:t>
            </a:r>
            <a:endParaRPr lang="en-US" sz="850" dirty="0"/>
          </a:p>
        </p:txBody>
      </p:sp>
      <p:sp>
        <p:nvSpPr>
          <p:cNvPr id="24" name="Shape 22"/>
          <p:cNvSpPr/>
          <p:nvPr/>
        </p:nvSpPr>
        <p:spPr>
          <a:xfrm>
            <a:off x="438912" y="4951232"/>
            <a:ext cx="109728" cy="109728"/>
          </a:xfrm>
          <a:prstGeom prst="ellipse">
            <a:avLst/>
          </a:prstGeom>
          <a:solidFill>
            <a:srgbClr val="00C9B8"/>
          </a:solidFill>
          <a:ln w="12700">
            <a:solidFill>
              <a:srgbClr val="000000"/>
            </a:solidFill>
            <a:prstDash val="solid"/>
          </a:ln>
        </p:spPr>
        <p:txBody>
          <a:bodyPr/>
          <a:lstStyle/>
          <a:p>
            <a:endParaRPr lang="en-AU"/>
          </a:p>
        </p:txBody>
      </p:sp>
      <p:sp>
        <p:nvSpPr>
          <p:cNvPr id="25" name="Text 23"/>
          <p:cNvSpPr/>
          <p:nvPr/>
        </p:nvSpPr>
        <p:spPr>
          <a:xfrm>
            <a:off x="658368" y="4896368"/>
            <a:ext cx="8092440" cy="292608"/>
          </a:xfrm>
          <a:prstGeom prst="rect">
            <a:avLst/>
          </a:prstGeom>
          <a:noFill/>
          <a:ln/>
        </p:spPr>
        <p:txBody>
          <a:bodyPr wrap="square" lIns="0" tIns="0" rIns="0" bIns="0" rtlCol="0" anchor="ctr"/>
          <a:lstStyle/>
          <a:p>
            <a:pPr marL="0" indent="0">
              <a:buNone/>
            </a:pPr>
            <a:r>
              <a:rPr lang="en-US" sz="850" dirty="0">
                <a:solidFill>
                  <a:srgbClr val="E8F4F8"/>
                </a:solidFill>
                <a:latin typeface="Trebuchet MS" pitchFamily="34" charset="0"/>
                <a:ea typeface="Trebuchet MS" pitchFamily="34" charset="-122"/>
                <a:cs typeface="Trebuchet MS" pitchFamily="34" charset="-120"/>
              </a:rPr>
              <a:t>Freshworks. (2022). IT Service Management Benchmark Report. https://freshworks.com/</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112240"/>
        </a:solidFill>
        <a:effectLst/>
      </p:bgPr>
    </p:bg>
    <p:spTree>
      <p:nvGrpSpPr>
        <p:cNvPr id="1" name="">
          <a:extLst>
            <a:ext uri="{FF2B5EF4-FFF2-40B4-BE49-F238E27FC236}">
              <a16:creationId xmlns:a16="http://schemas.microsoft.com/office/drawing/2014/main" id="{623053CF-6252-AFF4-33DB-7C173588DFD8}"/>
            </a:ext>
          </a:extLst>
        </p:cNvPr>
        <p:cNvGrpSpPr/>
        <p:nvPr/>
      </p:nvGrpSpPr>
      <p:grpSpPr>
        <a:xfrm>
          <a:off x="0" y="0"/>
          <a:ext cx="0" cy="0"/>
          <a:chOff x="0" y="0"/>
          <a:chExt cx="0" cy="0"/>
        </a:xfrm>
      </p:grpSpPr>
      <p:sp>
        <p:nvSpPr>
          <p:cNvPr id="26" name="Shape 0">
            <a:extLst>
              <a:ext uri="{FF2B5EF4-FFF2-40B4-BE49-F238E27FC236}">
                <a16:creationId xmlns:a16="http://schemas.microsoft.com/office/drawing/2014/main" id="{61623411-550B-F6B0-69F1-36EC7C7B3503}"/>
              </a:ext>
            </a:extLst>
          </p:cNvPr>
          <p:cNvSpPr/>
          <p:nvPr/>
        </p:nvSpPr>
        <p:spPr>
          <a:xfrm>
            <a:off x="0" y="0"/>
            <a:ext cx="9144000" cy="164592"/>
          </a:xfrm>
          <a:prstGeom prst="rect">
            <a:avLst/>
          </a:prstGeom>
          <a:solidFill>
            <a:srgbClr val="00C9B8"/>
          </a:solidFill>
          <a:ln w="12700">
            <a:solidFill>
              <a:srgbClr val="000000"/>
            </a:solidFill>
            <a:prstDash val="solid"/>
          </a:ln>
        </p:spPr>
        <p:txBody>
          <a:bodyPr/>
          <a:lstStyle/>
          <a:p>
            <a:endParaRPr lang="en-AU"/>
          </a:p>
        </p:txBody>
      </p:sp>
      <p:sp>
        <p:nvSpPr>
          <p:cNvPr id="27" name="Shape 1">
            <a:extLst>
              <a:ext uri="{FF2B5EF4-FFF2-40B4-BE49-F238E27FC236}">
                <a16:creationId xmlns:a16="http://schemas.microsoft.com/office/drawing/2014/main" id="{1D07C88E-E7B0-ADC2-A106-331C88517C88}"/>
              </a:ext>
            </a:extLst>
          </p:cNvPr>
          <p:cNvSpPr/>
          <p:nvPr/>
        </p:nvSpPr>
        <p:spPr>
          <a:xfrm>
            <a:off x="0" y="4983480"/>
            <a:ext cx="9144000" cy="164592"/>
          </a:xfrm>
          <a:prstGeom prst="rect">
            <a:avLst/>
          </a:prstGeom>
          <a:solidFill>
            <a:srgbClr val="FF6B6B"/>
          </a:solidFill>
          <a:ln w="12700">
            <a:solidFill>
              <a:srgbClr val="000000"/>
            </a:solidFill>
            <a:prstDash val="solid"/>
          </a:ln>
        </p:spPr>
        <p:txBody>
          <a:bodyPr/>
          <a:lstStyle/>
          <a:p>
            <a:endParaRPr lang="en-AU"/>
          </a:p>
        </p:txBody>
      </p:sp>
      <p:sp>
        <p:nvSpPr>
          <p:cNvPr id="28" name="Shape 2">
            <a:extLst>
              <a:ext uri="{FF2B5EF4-FFF2-40B4-BE49-F238E27FC236}">
                <a16:creationId xmlns:a16="http://schemas.microsoft.com/office/drawing/2014/main" id="{BF98FFBE-D5C5-E50F-DB68-E5A4AA766BA9}"/>
              </a:ext>
            </a:extLst>
          </p:cNvPr>
          <p:cNvSpPr/>
          <p:nvPr/>
        </p:nvSpPr>
        <p:spPr>
          <a:xfrm>
            <a:off x="1371600" y="594360"/>
            <a:ext cx="6400800" cy="4160520"/>
          </a:xfrm>
          <a:prstGeom prst="rect">
            <a:avLst/>
          </a:prstGeom>
          <a:solidFill>
            <a:srgbClr val="112240"/>
          </a:solidFill>
          <a:ln w="6350">
            <a:solidFill>
              <a:srgbClr val="1A2F4A"/>
            </a:solidFill>
            <a:prstDash val="solid"/>
          </a:ln>
          <a:effectLst>
            <a:outerShdw blurRad="254000" dist="63500" dir="8100000" algn="bl" rotWithShape="0">
              <a:srgbClr val="000000">
                <a:alpha val="30000"/>
              </a:srgbClr>
            </a:outerShdw>
          </a:effectLst>
        </p:spPr>
        <p:txBody>
          <a:bodyPr/>
          <a:lstStyle/>
          <a:p>
            <a:endParaRPr lang="en-AU"/>
          </a:p>
        </p:txBody>
      </p:sp>
      <p:sp>
        <p:nvSpPr>
          <p:cNvPr id="31" name="Text 5">
            <a:extLst>
              <a:ext uri="{FF2B5EF4-FFF2-40B4-BE49-F238E27FC236}">
                <a16:creationId xmlns:a16="http://schemas.microsoft.com/office/drawing/2014/main" id="{4EC91C33-19A8-8E5E-A94B-8CD340CB27AF}"/>
              </a:ext>
            </a:extLst>
          </p:cNvPr>
          <p:cNvSpPr/>
          <p:nvPr/>
        </p:nvSpPr>
        <p:spPr>
          <a:xfrm>
            <a:off x="1271016" y="1192903"/>
            <a:ext cx="6400800" cy="502920"/>
          </a:xfrm>
          <a:prstGeom prst="rect">
            <a:avLst/>
          </a:prstGeom>
          <a:noFill/>
          <a:ln/>
        </p:spPr>
        <p:txBody>
          <a:bodyPr wrap="square" lIns="0" tIns="0" rIns="0" bIns="0" rtlCol="0" anchor="ctr"/>
          <a:lstStyle/>
          <a:p>
            <a:pPr marL="0" indent="0" algn="ctr">
              <a:buNone/>
            </a:pPr>
            <a:r>
              <a:rPr lang="en-US" sz="2200" dirty="0">
                <a:solidFill>
                  <a:srgbClr val="00C9B8"/>
                </a:solidFill>
                <a:latin typeface="Trebuchet MS" pitchFamily="34" charset="0"/>
                <a:ea typeface="Trebuchet MS" pitchFamily="34" charset="-122"/>
                <a:cs typeface="Trebuchet MS" pitchFamily="34" charset="-120"/>
              </a:rPr>
              <a:t>Questions &amp; Discussion</a:t>
            </a:r>
            <a:endParaRPr lang="en-US" sz="2200" dirty="0"/>
          </a:p>
        </p:txBody>
      </p:sp>
      <p:sp>
        <p:nvSpPr>
          <p:cNvPr id="32" name="Shape 6">
            <a:extLst>
              <a:ext uri="{FF2B5EF4-FFF2-40B4-BE49-F238E27FC236}">
                <a16:creationId xmlns:a16="http://schemas.microsoft.com/office/drawing/2014/main" id="{5936076C-D734-E189-985D-09528E8F1937}"/>
              </a:ext>
            </a:extLst>
          </p:cNvPr>
          <p:cNvSpPr/>
          <p:nvPr/>
        </p:nvSpPr>
        <p:spPr>
          <a:xfrm>
            <a:off x="1508760" y="2057400"/>
            <a:ext cx="1920240" cy="1554480"/>
          </a:xfrm>
          <a:prstGeom prst="rect">
            <a:avLst/>
          </a:prstGeom>
          <a:solidFill>
            <a:srgbClr val="1A2F4A"/>
          </a:solidFill>
          <a:ln w="6350">
            <a:solidFill>
              <a:srgbClr val="1E3A5F"/>
            </a:solidFill>
            <a:prstDash val="solid"/>
          </a:ln>
        </p:spPr>
        <p:txBody>
          <a:bodyPr/>
          <a:lstStyle/>
          <a:p>
            <a:endParaRPr lang="en-AU"/>
          </a:p>
        </p:txBody>
      </p:sp>
      <p:sp>
        <p:nvSpPr>
          <p:cNvPr id="33" name="Shape 7">
            <a:extLst>
              <a:ext uri="{FF2B5EF4-FFF2-40B4-BE49-F238E27FC236}">
                <a16:creationId xmlns:a16="http://schemas.microsoft.com/office/drawing/2014/main" id="{74D37B2D-018D-D97A-AF4A-2852B124C93D}"/>
              </a:ext>
            </a:extLst>
          </p:cNvPr>
          <p:cNvSpPr/>
          <p:nvPr/>
        </p:nvSpPr>
        <p:spPr>
          <a:xfrm>
            <a:off x="1508760" y="2057400"/>
            <a:ext cx="1920240" cy="54864"/>
          </a:xfrm>
          <a:prstGeom prst="rect">
            <a:avLst/>
          </a:prstGeom>
          <a:solidFill>
            <a:srgbClr val="00C9B8"/>
          </a:solidFill>
          <a:ln w="12700">
            <a:solidFill>
              <a:srgbClr val="000000"/>
            </a:solidFill>
            <a:prstDash val="solid"/>
          </a:ln>
        </p:spPr>
        <p:txBody>
          <a:bodyPr/>
          <a:lstStyle/>
          <a:p>
            <a:endParaRPr lang="en-AU"/>
          </a:p>
        </p:txBody>
      </p:sp>
      <p:sp>
        <p:nvSpPr>
          <p:cNvPr id="34" name="Text 8">
            <a:extLst>
              <a:ext uri="{FF2B5EF4-FFF2-40B4-BE49-F238E27FC236}">
                <a16:creationId xmlns:a16="http://schemas.microsoft.com/office/drawing/2014/main" id="{28214543-CDD7-7969-5FC9-27EBB0A97B21}"/>
              </a:ext>
            </a:extLst>
          </p:cNvPr>
          <p:cNvSpPr/>
          <p:nvPr/>
        </p:nvSpPr>
        <p:spPr>
          <a:xfrm>
            <a:off x="1600200" y="21488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Why Linear SVM?</a:t>
            </a:r>
            <a:endParaRPr lang="en-US" sz="900" dirty="0"/>
          </a:p>
        </p:txBody>
      </p:sp>
      <p:sp>
        <p:nvSpPr>
          <p:cNvPr id="35" name="Text 9">
            <a:extLst>
              <a:ext uri="{FF2B5EF4-FFF2-40B4-BE49-F238E27FC236}">
                <a16:creationId xmlns:a16="http://schemas.microsoft.com/office/drawing/2014/main" id="{F03EF5B3-3D1E-7251-8324-95BAD392CB1A}"/>
              </a:ext>
            </a:extLst>
          </p:cNvPr>
          <p:cNvSpPr/>
          <p:nvPr/>
        </p:nvSpPr>
        <p:spPr>
          <a:xfrm>
            <a:off x="1600200" y="25146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Best macro F1 on validation; handles sparse TF-IDF features well</a:t>
            </a:r>
            <a:endParaRPr lang="en-US" sz="850" dirty="0"/>
          </a:p>
        </p:txBody>
      </p:sp>
      <p:sp>
        <p:nvSpPr>
          <p:cNvPr id="36" name="Shape 10">
            <a:extLst>
              <a:ext uri="{FF2B5EF4-FFF2-40B4-BE49-F238E27FC236}">
                <a16:creationId xmlns:a16="http://schemas.microsoft.com/office/drawing/2014/main" id="{ED3C558F-0332-6DA4-69FB-5C9EB66BAAA6}"/>
              </a:ext>
            </a:extLst>
          </p:cNvPr>
          <p:cNvSpPr/>
          <p:nvPr/>
        </p:nvSpPr>
        <p:spPr>
          <a:xfrm>
            <a:off x="3630168" y="2057400"/>
            <a:ext cx="1920240" cy="1554480"/>
          </a:xfrm>
          <a:prstGeom prst="rect">
            <a:avLst/>
          </a:prstGeom>
          <a:solidFill>
            <a:srgbClr val="1A2F4A"/>
          </a:solidFill>
          <a:ln w="6350">
            <a:solidFill>
              <a:srgbClr val="1E3A5F"/>
            </a:solidFill>
            <a:prstDash val="solid"/>
          </a:ln>
        </p:spPr>
        <p:txBody>
          <a:bodyPr/>
          <a:lstStyle/>
          <a:p>
            <a:endParaRPr lang="en-AU"/>
          </a:p>
        </p:txBody>
      </p:sp>
      <p:sp>
        <p:nvSpPr>
          <p:cNvPr id="37" name="Shape 11">
            <a:extLst>
              <a:ext uri="{FF2B5EF4-FFF2-40B4-BE49-F238E27FC236}">
                <a16:creationId xmlns:a16="http://schemas.microsoft.com/office/drawing/2014/main" id="{5CB61F6A-2758-DA12-5C60-88159CDD1DCB}"/>
              </a:ext>
            </a:extLst>
          </p:cNvPr>
          <p:cNvSpPr/>
          <p:nvPr/>
        </p:nvSpPr>
        <p:spPr>
          <a:xfrm>
            <a:off x="3630168" y="2057400"/>
            <a:ext cx="1920240" cy="54864"/>
          </a:xfrm>
          <a:prstGeom prst="rect">
            <a:avLst/>
          </a:prstGeom>
          <a:solidFill>
            <a:srgbClr val="FF6B6B"/>
          </a:solidFill>
          <a:ln w="12700">
            <a:solidFill>
              <a:srgbClr val="000000"/>
            </a:solidFill>
            <a:prstDash val="solid"/>
          </a:ln>
        </p:spPr>
        <p:txBody>
          <a:bodyPr/>
          <a:lstStyle/>
          <a:p>
            <a:endParaRPr lang="en-AU"/>
          </a:p>
        </p:txBody>
      </p:sp>
      <p:sp>
        <p:nvSpPr>
          <p:cNvPr id="38" name="Text 12">
            <a:extLst>
              <a:ext uri="{FF2B5EF4-FFF2-40B4-BE49-F238E27FC236}">
                <a16:creationId xmlns:a16="http://schemas.microsoft.com/office/drawing/2014/main" id="{160B5509-57BF-BB9B-E341-426FB61A48BF}"/>
              </a:ext>
            </a:extLst>
          </p:cNvPr>
          <p:cNvSpPr/>
          <p:nvPr/>
        </p:nvSpPr>
        <p:spPr>
          <a:xfrm>
            <a:off x="3721608" y="21488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Why moderate F1?</a:t>
            </a:r>
            <a:endParaRPr lang="en-US" sz="900" dirty="0"/>
          </a:p>
        </p:txBody>
      </p:sp>
      <p:sp>
        <p:nvSpPr>
          <p:cNvPr id="39" name="Text 13">
            <a:extLst>
              <a:ext uri="{FF2B5EF4-FFF2-40B4-BE49-F238E27FC236}">
                <a16:creationId xmlns:a16="http://schemas.microsoft.com/office/drawing/2014/main" id="{D7C4293F-B662-EC3A-2912-81F81DF54ECD}"/>
              </a:ext>
            </a:extLst>
          </p:cNvPr>
          <p:cNvSpPr/>
          <p:nvPr/>
        </p:nvSpPr>
        <p:spPr>
          <a:xfrm>
            <a:off x="3721608" y="25146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Overlapping categories + multilingual imbalance — supports human-in-the-loop design</a:t>
            </a:r>
            <a:endParaRPr lang="en-US" sz="850" dirty="0"/>
          </a:p>
        </p:txBody>
      </p:sp>
      <p:sp>
        <p:nvSpPr>
          <p:cNvPr id="40" name="Shape 14">
            <a:extLst>
              <a:ext uri="{FF2B5EF4-FFF2-40B4-BE49-F238E27FC236}">
                <a16:creationId xmlns:a16="http://schemas.microsoft.com/office/drawing/2014/main" id="{08501EFF-408C-BAA5-2254-A4A3CCC5DDC5}"/>
              </a:ext>
            </a:extLst>
          </p:cNvPr>
          <p:cNvSpPr/>
          <p:nvPr/>
        </p:nvSpPr>
        <p:spPr>
          <a:xfrm>
            <a:off x="5751576" y="2057400"/>
            <a:ext cx="1920240" cy="1554480"/>
          </a:xfrm>
          <a:prstGeom prst="rect">
            <a:avLst/>
          </a:prstGeom>
          <a:solidFill>
            <a:srgbClr val="1A2F4A"/>
          </a:solidFill>
          <a:ln w="6350">
            <a:solidFill>
              <a:srgbClr val="1E3A5F"/>
            </a:solidFill>
            <a:prstDash val="solid"/>
          </a:ln>
        </p:spPr>
        <p:txBody>
          <a:bodyPr/>
          <a:lstStyle/>
          <a:p>
            <a:endParaRPr lang="en-AU"/>
          </a:p>
        </p:txBody>
      </p:sp>
      <p:sp>
        <p:nvSpPr>
          <p:cNvPr id="41" name="Shape 15">
            <a:extLst>
              <a:ext uri="{FF2B5EF4-FFF2-40B4-BE49-F238E27FC236}">
                <a16:creationId xmlns:a16="http://schemas.microsoft.com/office/drawing/2014/main" id="{350C34AE-CB41-570E-1845-FBC98CBC9B7A}"/>
              </a:ext>
            </a:extLst>
          </p:cNvPr>
          <p:cNvSpPr/>
          <p:nvPr/>
        </p:nvSpPr>
        <p:spPr>
          <a:xfrm>
            <a:off x="5751576" y="2057400"/>
            <a:ext cx="1920240" cy="54864"/>
          </a:xfrm>
          <a:prstGeom prst="rect">
            <a:avLst/>
          </a:prstGeom>
          <a:solidFill>
            <a:srgbClr val="F5C842"/>
          </a:solidFill>
          <a:ln w="12700">
            <a:solidFill>
              <a:srgbClr val="000000"/>
            </a:solidFill>
            <a:prstDash val="solid"/>
          </a:ln>
        </p:spPr>
        <p:txBody>
          <a:bodyPr/>
          <a:lstStyle/>
          <a:p>
            <a:endParaRPr lang="en-AU"/>
          </a:p>
        </p:txBody>
      </p:sp>
      <p:sp>
        <p:nvSpPr>
          <p:cNvPr id="42" name="Text 16">
            <a:extLst>
              <a:ext uri="{FF2B5EF4-FFF2-40B4-BE49-F238E27FC236}">
                <a16:creationId xmlns:a16="http://schemas.microsoft.com/office/drawing/2014/main" id="{E7BBD3EC-7F4D-6B23-1DB2-7E3E1383D1C7}"/>
              </a:ext>
            </a:extLst>
          </p:cNvPr>
          <p:cNvSpPr/>
          <p:nvPr/>
        </p:nvSpPr>
        <p:spPr>
          <a:xfrm>
            <a:off x="5843016" y="2148840"/>
            <a:ext cx="1737360" cy="347472"/>
          </a:xfrm>
          <a:prstGeom prst="rect">
            <a:avLst/>
          </a:prstGeom>
          <a:noFill/>
          <a:ln/>
        </p:spPr>
        <p:txBody>
          <a:bodyPr wrap="square" lIns="0" tIns="0" rIns="0" bIns="0" rtlCol="0" anchor="ctr"/>
          <a:lstStyle/>
          <a:p>
            <a:pPr marL="0" indent="0">
              <a:buNone/>
            </a:pPr>
            <a:r>
              <a:rPr lang="en-US" sz="900" b="1" dirty="0">
                <a:solidFill>
                  <a:srgbClr val="FFFFFF"/>
                </a:solidFill>
                <a:latin typeface="Trebuchet MS" pitchFamily="34" charset="0"/>
                <a:ea typeface="Trebuchet MS" pitchFamily="34" charset="-122"/>
                <a:cs typeface="Trebuchet MS" pitchFamily="34" charset="-120"/>
              </a:rPr>
              <a:t>What makes it responsible?</a:t>
            </a:r>
            <a:endParaRPr lang="en-US" sz="900" dirty="0"/>
          </a:p>
        </p:txBody>
      </p:sp>
      <p:sp>
        <p:nvSpPr>
          <p:cNvPr id="43" name="Text 17">
            <a:extLst>
              <a:ext uri="{FF2B5EF4-FFF2-40B4-BE49-F238E27FC236}">
                <a16:creationId xmlns:a16="http://schemas.microsoft.com/office/drawing/2014/main" id="{A594763F-0E33-15C9-AB54-E72DF9A9EE4A}"/>
              </a:ext>
            </a:extLst>
          </p:cNvPr>
          <p:cNvSpPr/>
          <p:nvPr/>
        </p:nvSpPr>
        <p:spPr>
          <a:xfrm>
            <a:off x="5843016" y="2514600"/>
            <a:ext cx="1737360" cy="749808"/>
          </a:xfrm>
          <a:prstGeom prst="rect">
            <a:avLst/>
          </a:prstGeom>
          <a:noFill/>
          <a:ln/>
        </p:spPr>
        <p:txBody>
          <a:bodyPr wrap="square" lIns="0" tIns="0" rIns="0" bIns="0" rtlCol="0" anchor="ctr"/>
          <a:lstStyle/>
          <a:p>
            <a:pPr marL="0" indent="0">
              <a:buNone/>
            </a:pPr>
            <a:r>
              <a:rPr lang="en-US" sz="850" dirty="0">
                <a:solidFill>
                  <a:srgbClr val="A8C4D8"/>
                </a:solidFill>
                <a:latin typeface="Trebuchet MS" pitchFamily="34" charset="0"/>
                <a:ea typeface="Trebuchet MS" pitchFamily="34" charset="-122"/>
                <a:cs typeface="Trebuchet MS" pitchFamily="34" charset="-120"/>
              </a:rPr>
              <a:t>Leakage control, privacy masking, explanation terms, escalation rules, human oversight</a:t>
            </a:r>
            <a:endParaRPr lang="en-US" sz="850" dirty="0"/>
          </a:p>
        </p:txBody>
      </p:sp>
    </p:spTree>
    <p:extLst>
      <p:ext uri="{BB962C8B-B14F-4D97-AF65-F5344CB8AC3E}">
        <p14:creationId xmlns:p14="http://schemas.microsoft.com/office/powerpoint/2010/main" val="15916064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1900</Words>
  <Application>Microsoft Office PowerPoint</Application>
  <PresentationFormat>On-screen Show (16:9)</PresentationFormat>
  <Paragraphs>235</Paragraphs>
  <Slides>11</Slides>
  <Notes>11</Notes>
  <HiddenSlides>2</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 Routing Intelligence</dc:title>
  <dc:subject>PptxGenJS Presentation</dc:subject>
  <dc:creator>PptxGenJS</dc:creator>
  <cp:lastModifiedBy>Tumadhir Alsharhan</cp:lastModifiedBy>
  <cp:revision>8</cp:revision>
  <dcterms:created xsi:type="dcterms:W3CDTF">2026-05-03T06:37:24Z</dcterms:created>
  <dcterms:modified xsi:type="dcterms:W3CDTF">2026-05-03T07:00:53Z</dcterms:modified>
</cp:coreProperties>
</file>